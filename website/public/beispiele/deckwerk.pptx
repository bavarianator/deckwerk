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Inter" pitchFamily="34" charset="0"/>
      <p:regular r:id="rId19"/>
      <p:bold r:id="rId20"/>
      <p:italic r:id="rId21"/>
      <p:boldItalic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stieg" id="{E0B1692A-57AC-44DA-ABAE-69D209A40C08}">
          <p14:sldIdLst>
            <p14:sldId id="256"/>
            <p14:sldId id="257"/>
            <p14:sldId id="258"/>
            <p14:sldId id="259"/>
            <p14:sldId id="260"/>
          </p14:sldIdLst>
        </p14:section>
        <p14:section name="Geprüft, bevor du es siehst" id="{9FDE56C4-E4C8-486E-A4EF-136DF41670EC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Deckwerk in einem Satz: Du sagst, worum es geht, und bekommst ein fertiges, geprüftes Deck. Foto: Galymzhan Abdugalimov / Unsplash.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Einstieg: Die meiste Zeit beim Foliebauen geht ins Ausrichten, Kürzen und Nachjustieren. Genau das übernimmt Deckwerk.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Ablauf in der App: Satz eingeben, Storyline lesen, Folien entstehen und werden geprüft. Danach sagt man einfach, was sich ändern soll.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Kern der Architektur: Die KI setzt nie Koordinaten. Sie wählt Layouts und füllt Felder; Positionen, Schriftgrößen und Farben berechnet die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Katalog ist fest: Die KI kann keine Layouts erfinden, nur gute auswählen. Deshalb sieht das Ergebnis aus wie von einem Designer.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Kapitel zwei: Was die Engine im Hintergrund tut.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Lint prüft jede Folie nach dem Rendern: Überlauf, Überlappung, Mindestgröße, Wortdichte, einzelne Wörter in der letzten Zeile und den Rhythmus des ganzen Decks. Die KI bekommt die Meldungen zurück und korrigiert sich selbst.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der PowerPoint sind Texte, Formen, Bilder und Diagramme echte Objekte an den gemessenen Positionen, Schriften sind eingebettet, Animationen und Morph laufen 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Format lässt sich jederzeit wechseln. Deckwerk ordnet Spalten neu, setzt Bilder nach oben und vergrößert die Schrift für kleine Bildschirme.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Decks liegen als Datei unter ~/Deckwerk. Deckwerk nutzt dein vorhandenes Abo über die Kommandozeile oder einen eigenen API-Schlüssel. Foto: Aleks Dorohovich / Unsplash.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Wer lieber im Terminal arbeitet, bindet Deckwerk als MCP-Server ein. Die Werkzeuge liefern dieselben Prüfmeldungen wie in der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nächste Schritt: laden, einen Satz eingeben, das Ergebnis ansehen. Foto: Alejandro Escamilla / Unsplash.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jp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w:image" descr=" ">    </p:cNvPr>
          <p:cNvPicPr>
            <a:picLocks noChangeAspect="1"/>
          </p:cNvPicPr>
          <p:nvPr/>
        </p:nvPicPr>
        <p:blipFill>
          <a:blip r:embed="rId2"/>
          <a:srcRect l="0" r="0" t="12500" b="125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dw:_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0004">
                  <a:alpha val="90000"/>
                </a:srgbClr>
              </a:gs>
              <a:gs pos="50000">
                <a:srgbClr val="000004">
                  <a:alpha val="80000"/>
                </a:srgbClr>
              </a:gs>
              <a:gs pos="80000">
                <a:srgbClr val="000004">
                  <a:alpha val="62000"/>
                </a:srgbClr>
              </a:gs>
              <a:gs pos="90000">
                <a:srgbClr val="000004">
                  <a:alpha val="40000"/>
                </a:srgbClr>
              </a:gs>
              <a:gs pos="100000">
                <a:srgbClr val="000004">
                  <a:alpha val="15000"/>
                </a:srgbClr>
              </a:gs>
            </a:gsLst>
            <a:lin ang="0" scaled="0"/>
          </a:gradFill>
          <a:ln/>
        </p:spPr>
      </p:sp>
      <p:sp>
        <p:nvSpPr>
          <p:cNvPr id="4" name="dw:eyebrow"/>
          <p:cNvSpPr/>
          <p:nvPr/>
        </p:nvSpPr>
        <p:spPr>
          <a:xfrm>
            <a:off x="685800" y="1400770"/>
            <a:ext cx="6769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de-DE" altLang="en-US" sz="1050" b="1" spc="11" kern="0" dirty="0">
                <a:solidFill>
                  <a:srgbClr val="E9E9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Deckwerk</a:t>
            </a:r>
            <a:endParaRPr lang="de-DE" sz="1050" dirty="0"/>
          </a:p>
        </p:txBody>
      </p:sp>
      <p:sp>
        <p:nvSpPr>
          <p:cNvPr id="5" name="dw:title"/>
          <p:cNvSpPr/>
          <p:nvPr/>
        </p:nvSpPr>
        <p:spPr>
          <a:xfrm>
            <a:off x="685800" y="1789361"/>
            <a:ext cx="7927658" cy="2808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71"/>
              </a:lnSpc>
              <a:buNone/>
            </a:pPr>
            <a:r>
              <a:rPr lang="de-DE" altLang="en-US" sz="6954" b="1" spc="-15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 Satz rein.</a:t>
            </a:r>
            <a:endParaRPr lang="de-DE" sz="6954" dirty="0"/>
          </a:p>
          <a:p>
            <a:pPr algn="l" indent="0" marL="0">
              <a:lnSpc>
                <a:spcPts val="7371"/>
              </a:lnSpc>
              <a:buNone/>
            </a:pPr>
            <a:r>
              <a:rPr lang="de-DE" altLang="en-US" sz="6954" b="1" spc="-15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 fertiges</a:t>
            </a:r>
            <a:endParaRPr lang="de-DE" sz="6954" dirty="0"/>
          </a:p>
          <a:p>
            <a:pPr algn="l" indent="0" marL="0">
              <a:lnSpc>
                <a:spcPts val="7371"/>
              </a:lnSpc>
              <a:buNone/>
            </a:pPr>
            <a:r>
              <a:rPr lang="de-DE" altLang="en-US" sz="6954" b="1" spc="-15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 raus.</a:t>
            </a:r>
            <a:endParaRPr lang="de-DE" sz="6954" dirty="0"/>
          </a:p>
        </p:txBody>
      </p:sp>
      <p:sp>
        <p:nvSpPr>
          <p:cNvPr id="6" name="dw:subtitle"/>
          <p:cNvSpPr/>
          <p:nvPr/>
        </p:nvSpPr>
        <p:spPr>
          <a:xfrm>
            <a:off x="685800" y="4826347"/>
            <a:ext cx="7927658" cy="630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E9E9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 Präsentationsstudio, das schreibt, gestaltet, jede Folie prüft und eine bearbeitbare PowerPoint liefert</a:t>
            </a:r>
            <a:endParaRPr lang="de-DE" sz="1800" dirty="0"/>
          </a:p>
        </p:txBody>
      </p:sp>
      <p:sp>
        <p:nvSpPr>
          <p:cNvPr id="7" name="dw:meta"/>
          <p:cNvSpPr/>
          <p:nvPr/>
        </p:nvSpPr>
        <p:spPr>
          <a:xfrm>
            <a:off x="685800" y="5933331"/>
            <a:ext cx="3568956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E9E9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Kostenlos · Open Source · Mac und Linux</a:t>
            </a:r>
            <a:endParaRPr lang="de-DE" sz="14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w:text"/>
          <p:cNvSpPr/>
          <p:nvPr/>
        </p:nvSpPr>
        <p:spPr>
          <a:xfrm>
            <a:off x="685800" y="2360861"/>
            <a:ext cx="10054590" cy="202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7"/>
              </a:lnSpc>
              <a:buNone/>
            </a:pPr>
            <a:r>
              <a:rPr lang="de-DE" altLang="en-US" sz="4575" b="1" spc="-101" kern="0" dirty="0">
                <a:solidFill>
                  <a:srgbClr val="F7F7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Wer Folien baut, schiebt</a:t>
            </a:r>
            <a:endParaRPr lang="de-DE" sz="4575" dirty="0"/>
          </a:p>
          <a:p>
            <a:pPr algn="l" indent="0" marL="0">
              <a:lnSpc>
                <a:spcPts val="5307"/>
              </a:lnSpc>
              <a:buNone/>
            </a:pPr>
            <a:r>
              <a:rPr lang="de-DE" altLang="en-US" sz="4575" b="1" spc="-101" kern="0" dirty="0">
                <a:solidFill>
                  <a:srgbClr val="6F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Kästchen</a:t>
            </a:r>
            <a:pPr algn="l" indent="0" marL="0">
              <a:lnSpc>
                <a:spcPts val="5307"/>
              </a:lnSpc>
              <a:buNone/>
            </a:pPr>
            <a:r>
              <a:rPr lang="de-DE" altLang="en-US" sz="4575" b="1" spc="-101" kern="0" dirty="0">
                <a:solidFill>
                  <a:srgbClr val="F7F7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statt an seiner</a:t>
            </a:r>
            <a:endParaRPr lang="de-DE" sz="4575" dirty="0"/>
          </a:p>
          <a:p>
            <a:pPr algn="l" indent="0" marL="0">
              <a:lnSpc>
                <a:spcPts val="5307"/>
              </a:lnSpc>
              <a:buNone/>
            </a:pPr>
            <a:r>
              <a:rPr lang="de-DE" altLang="en-US" sz="4575" b="1" spc="-101" kern="0" dirty="0">
                <a:solidFill>
                  <a:srgbClr val="F7F7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Botschaft zu arbeiten.</a:t>
            </a:r>
            <a:endParaRPr lang="de-DE" sz="4575" dirty="0"/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w:title"/>
          <p:cNvSpPr/>
          <p:nvPr/>
        </p:nvSpPr>
        <p:spPr>
          <a:xfrm>
            <a:off x="685800" y="571500"/>
            <a:ext cx="9667875" cy="111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b="1" spc="-85" kern="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 einem Satz wird in</a:t>
            </a:r>
            <a:endParaRPr lang="de-DE" sz="3843" dirty="0"/>
          </a:p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b="1" spc="-85" kern="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vier Schritten ein Deck</a:t>
            </a:r>
            <a:endParaRPr lang="de-DE" sz="3843" dirty="0"/>
          </a:p>
        </p:txBody>
      </p:sp>
      <p:sp>
        <p:nvSpPr>
          <p:cNvPr id="3" name="dw:_card.0"/>
          <p:cNvSpPr/>
          <p:nvPr/>
        </p:nvSpPr>
        <p:spPr>
          <a:xfrm>
            <a:off x="685800" y="2065288"/>
            <a:ext cx="2505075" cy="2384227"/>
          </a:xfrm>
          <a:prstGeom prst="rect">
            <a:avLst/>
          </a:prstGeom>
          <a:ln/>
        </p:spPr>
      </p:sp>
      <p:sp>
        <p:nvSpPr>
          <p:cNvPr id="4" name="dw:_n.0"/>
          <p:cNvSpPr/>
          <p:nvPr/>
        </p:nvSpPr>
        <p:spPr>
          <a:xfrm>
            <a:off x="685800" y="2331988"/>
            <a:ext cx="618668" cy="488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3"/>
              </a:lnSpc>
              <a:buNone/>
            </a:pPr>
            <a:r>
              <a:rPr lang="de-DE" altLang="en-US" sz="3843" b="1" spc="-85" kern="0" dirty="0">
                <a:solidFill>
                  <a:srgbClr val="4F5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de-DE" sz="3843" dirty="0"/>
          </a:p>
        </p:txBody>
      </p:sp>
      <p:sp>
        <p:nvSpPr>
          <p:cNvPr id="5" name="dw:steps.0.title"/>
          <p:cNvSpPr/>
          <p:nvPr/>
        </p:nvSpPr>
        <p:spPr>
          <a:xfrm>
            <a:off x="685800" y="3029620"/>
            <a:ext cx="2426637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9"/>
              </a:lnSpc>
              <a:buNone/>
            </a:pPr>
            <a:r>
              <a:rPr lang="de-DE" altLang="en-US" sz="1950" b="1" spc="-21" kern="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Erzählen</a:t>
            </a:r>
            <a:endParaRPr lang="de-DE" sz="1950" dirty="0"/>
          </a:p>
        </p:txBody>
      </p:sp>
      <p:sp>
        <p:nvSpPr>
          <p:cNvPr id="6" name="dw:steps.0.desc"/>
          <p:cNvSpPr/>
          <p:nvPr/>
        </p:nvSpPr>
        <p:spPr>
          <a:xfrm>
            <a:off x="685800" y="3465091"/>
            <a:ext cx="2426637" cy="630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5759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 Satz: worum es geht, für wen</a:t>
            </a:r>
            <a:endParaRPr lang="de-DE" sz="1800" dirty="0"/>
          </a:p>
        </p:txBody>
      </p:sp>
      <p:sp>
        <p:nvSpPr>
          <p:cNvPr id="7" name="dw:_card.1"/>
          <p:cNvSpPr/>
          <p:nvPr/>
        </p:nvSpPr>
        <p:spPr>
          <a:xfrm>
            <a:off x="3457575" y="2065288"/>
            <a:ext cx="2505075" cy="2384227"/>
          </a:xfrm>
          <a:prstGeom prst="rect">
            <a:avLst/>
          </a:prstGeom>
          <a:ln/>
        </p:spPr>
      </p:sp>
      <p:sp>
        <p:nvSpPr>
          <p:cNvPr id="8" name="dw:_n.1"/>
          <p:cNvSpPr/>
          <p:nvPr/>
        </p:nvSpPr>
        <p:spPr>
          <a:xfrm>
            <a:off x="3457575" y="2331988"/>
            <a:ext cx="618668" cy="488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3"/>
              </a:lnSpc>
              <a:buNone/>
            </a:pPr>
            <a:r>
              <a:rPr lang="de-DE" altLang="en-US" sz="3843" b="1" spc="-85" kern="0" dirty="0">
                <a:solidFill>
                  <a:srgbClr val="4F5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de-DE" sz="3843" dirty="0"/>
          </a:p>
        </p:txBody>
      </p:sp>
      <p:sp>
        <p:nvSpPr>
          <p:cNvPr id="9" name="dw:steps.1.title"/>
          <p:cNvSpPr/>
          <p:nvPr/>
        </p:nvSpPr>
        <p:spPr>
          <a:xfrm>
            <a:off x="3457575" y="3029620"/>
            <a:ext cx="2426637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9"/>
              </a:lnSpc>
              <a:buNone/>
            </a:pPr>
            <a:r>
              <a:rPr lang="de-DE" altLang="en-US" sz="1950" b="1" spc="-21" kern="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Storyline</a:t>
            </a:r>
            <a:endParaRPr lang="de-DE" sz="1950" dirty="0"/>
          </a:p>
        </p:txBody>
      </p:sp>
      <p:sp>
        <p:nvSpPr>
          <p:cNvPr id="10" name="dw:steps.1.desc"/>
          <p:cNvSpPr/>
          <p:nvPr/>
        </p:nvSpPr>
        <p:spPr>
          <a:xfrm>
            <a:off x="3457575" y="3465091"/>
            <a:ext cx="2426637" cy="630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5759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Titles erzählen die Geschichte</a:t>
            </a:r>
            <a:endParaRPr lang="de-DE" sz="1800" dirty="0"/>
          </a:p>
        </p:txBody>
      </p:sp>
      <p:sp>
        <p:nvSpPr>
          <p:cNvPr id="11" name="dw:_card.2"/>
          <p:cNvSpPr/>
          <p:nvPr/>
        </p:nvSpPr>
        <p:spPr>
          <a:xfrm>
            <a:off x="6229350" y="2065288"/>
            <a:ext cx="2505075" cy="2384227"/>
          </a:xfrm>
          <a:prstGeom prst="rect">
            <a:avLst/>
          </a:prstGeom>
          <a:ln/>
        </p:spPr>
      </p:sp>
      <p:sp>
        <p:nvSpPr>
          <p:cNvPr id="12" name="dw:_n.2"/>
          <p:cNvSpPr/>
          <p:nvPr/>
        </p:nvSpPr>
        <p:spPr>
          <a:xfrm>
            <a:off x="6229350" y="2331988"/>
            <a:ext cx="618668" cy="488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3"/>
              </a:lnSpc>
              <a:buNone/>
            </a:pPr>
            <a:r>
              <a:rPr lang="de-DE" altLang="en-US" sz="3843" b="1" spc="-85" kern="0" dirty="0">
                <a:solidFill>
                  <a:srgbClr val="4F5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de-DE" sz="3843" dirty="0"/>
          </a:p>
        </p:txBody>
      </p:sp>
      <p:sp>
        <p:nvSpPr>
          <p:cNvPr id="13" name="dw:steps.2.title"/>
          <p:cNvSpPr/>
          <p:nvPr/>
        </p:nvSpPr>
        <p:spPr>
          <a:xfrm>
            <a:off x="6229350" y="3029620"/>
            <a:ext cx="2426637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9"/>
              </a:lnSpc>
              <a:buNone/>
            </a:pPr>
            <a:r>
              <a:rPr lang="de-DE" altLang="en-US" sz="1950" b="1" spc="-21" kern="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Gestalten</a:t>
            </a:r>
            <a:endParaRPr lang="de-DE" sz="1950" dirty="0"/>
          </a:p>
        </p:txBody>
      </p:sp>
      <p:sp>
        <p:nvSpPr>
          <p:cNvPr id="14" name="dw:steps.2.desc"/>
          <p:cNvSpPr/>
          <p:nvPr/>
        </p:nvSpPr>
        <p:spPr>
          <a:xfrm>
            <a:off x="6229350" y="3465091"/>
            <a:ext cx="2426637" cy="94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5759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 aus dem Katalog, eigenes Design</a:t>
            </a:r>
            <a:endParaRPr lang="de-DE" sz="1800" dirty="0"/>
          </a:p>
        </p:txBody>
      </p:sp>
      <p:sp>
        <p:nvSpPr>
          <p:cNvPr id="15" name="dw:_card.3"/>
          <p:cNvSpPr/>
          <p:nvPr/>
        </p:nvSpPr>
        <p:spPr>
          <a:xfrm>
            <a:off x="9001125" y="2065288"/>
            <a:ext cx="2505075" cy="2384227"/>
          </a:xfrm>
          <a:prstGeom prst="rect">
            <a:avLst/>
          </a:prstGeom>
          <a:ln/>
        </p:spPr>
      </p:sp>
      <p:sp>
        <p:nvSpPr>
          <p:cNvPr id="16" name="dw:_n.3"/>
          <p:cNvSpPr/>
          <p:nvPr/>
        </p:nvSpPr>
        <p:spPr>
          <a:xfrm>
            <a:off x="9001125" y="2331988"/>
            <a:ext cx="618668" cy="488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3"/>
              </a:lnSpc>
              <a:buNone/>
            </a:pPr>
            <a:r>
              <a:rPr lang="de-DE" altLang="en-US" sz="3843" b="1" spc="-85" kern="0" dirty="0">
                <a:solidFill>
                  <a:srgbClr val="4F5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de-DE" sz="3843" dirty="0"/>
          </a:p>
        </p:txBody>
      </p:sp>
      <p:sp>
        <p:nvSpPr>
          <p:cNvPr id="17" name="dw:steps.3.title"/>
          <p:cNvSpPr/>
          <p:nvPr/>
        </p:nvSpPr>
        <p:spPr>
          <a:xfrm>
            <a:off x="9001125" y="3029620"/>
            <a:ext cx="2426637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9"/>
              </a:lnSpc>
              <a:buNone/>
            </a:pPr>
            <a:r>
              <a:rPr lang="de-DE" altLang="en-US" sz="1950" b="1" spc="-21" kern="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Prüfen</a:t>
            </a:r>
            <a:endParaRPr lang="de-DE" sz="1950" dirty="0"/>
          </a:p>
        </p:txBody>
      </p:sp>
      <p:sp>
        <p:nvSpPr>
          <p:cNvPr id="18" name="dw:steps.3.desc"/>
          <p:cNvSpPr/>
          <p:nvPr/>
        </p:nvSpPr>
        <p:spPr>
          <a:xfrm>
            <a:off x="9001125" y="3465091"/>
            <a:ext cx="2426637" cy="630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5759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Jede Folie gemessen und kontrolliert</a:t>
            </a:r>
            <a:endParaRPr lang="de-DE" sz="1800" dirty="0"/>
          </a:p>
        </p:txBody>
      </p:sp>
      <p:sp>
        <p:nvSpPr>
          <p:cNvPr id="19" name="dw:_footer.page"/>
          <p:cNvSpPr/>
          <p:nvPr/>
        </p:nvSpPr>
        <p:spPr>
          <a:xfrm>
            <a:off x="11174685" y="6450360"/>
            <a:ext cx="33648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759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12</a:t>
            </a:r>
            <a:endParaRPr lang="de-DE" sz="975" dirty="0"/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w:title"/>
          <p:cNvSpPr/>
          <p:nvPr/>
        </p:nvSpPr>
        <p:spPr>
          <a:xfrm>
            <a:off x="685800" y="571500"/>
            <a:ext cx="9667875" cy="111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b="1" spc="-85" kern="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 KI schreibt, die Engine</a:t>
            </a:r>
            <a:endParaRPr lang="de-DE" sz="3843" dirty="0"/>
          </a:p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b="1" spc="-85" kern="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setzt – keine Folie wird geraten</a:t>
            </a:r>
            <a:endParaRPr lang="de-DE" sz="3843" dirty="0"/>
          </a:p>
        </p:txBody>
      </p:sp>
      <p:sp>
        <p:nvSpPr>
          <p:cNvPr id="3" name="dw:_card.problem"/>
          <p:cNvSpPr/>
          <p:nvPr/>
        </p:nvSpPr>
        <p:spPr>
          <a:xfrm>
            <a:off x="685800" y="2065288"/>
            <a:ext cx="4914900" cy="4106912"/>
          </a:xfrm>
          <a:prstGeom prst="roundRect">
            <a:avLst>
              <a:gd name="adj" fmla="val 928"/>
            </a:avLst>
          </a:prstGeom>
          <a:solidFill>
            <a:srgbClr val="DEDEE1"/>
          </a:solidFill>
          <a:ln/>
        </p:spPr>
      </p:sp>
      <p:sp>
        <p:nvSpPr>
          <p:cNvPr id="4" name="dw:problem.heading"/>
          <p:cNvSpPr/>
          <p:nvPr/>
        </p:nvSpPr>
        <p:spPr>
          <a:xfrm>
            <a:off x="990600" y="3365525"/>
            <a:ext cx="43698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de-DE" altLang="en-US" sz="1050" b="1" spc="11" kern="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Übliche KI-Folien</a:t>
            </a:r>
            <a:endParaRPr lang="de-DE" sz="1050" dirty="0"/>
          </a:p>
        </p:txBody>
      </p:sp>
      <p:sp>
        <p:nvSpPr>
          <p:cNvPr id="5" name="dw:_pd.problem.0"/>
          <p:cNvSpPr/>
          <p:nvPr/>
        </p:nvSpPr>
        <p:spPr>
          <a:xfrm>
            <a:off x="990600" y="3778448"/>
            <a:ext cx="76200" cy="76200"/>
          </a:xfrm>
          <a:prstGeom prst="ellipse">
            <a:avLst>
              <a:gd name="adj" fmla="val 50000"/>
            </a:avLst>
          </a:prstGeom>
          <a:solidFill>
            <a:srgbClr val="4F52D9"/>
          </a:solidFill>
          <a:ln/>
        </p:spPr>
      </p:sp>
      <p:sp>
        <p:nvSpPr>
          <p:cNvPr id="6" name="dw:problem.points.0"/>
          <p:cNvSpPr/>
          <p:nvPr/>
        </p:nvSpPr>
        <p:spPr>
          <a:xfrm>
            <a:off x="1200150" y="3658865"/>
            <a:ext cx="4157186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läuft über den Rand</a:t>
            </a:r>
            <a:endParaRPr lang="de-DE" sz="1800" dirty="0"/>
          </a:p>
        </p:txBody>
      </p:sp>
      <p:sp>
        <p:nvSpPr>
          <p:cNvPr id="7" name="dw:_pd.problem.1"/>
          <p:cNvSpPr/>
          <p:nvPr/>
        </p:nvSpPr>
        <p:spPr>
          <a:xfrm>
            <a:off x="990600" y="4227240"/>
            <a:ext cx="76200" cy="76200"/>
          </a:xfrm>
          <a:prstGeom prst="ellipse">
            <a:avLst>
              <a:gd name="adj" fmla="val 50000"/>
            </a:avLst>
          </a:prstGeom>
          <a:solidFill>
            <a:srgbClr val="4F52D9"/>
          </a:solidFill>
          <a:ln/>
        </p:spPr>
      </p:sp>
      <p:sp>
        <p:nvSpPr>
          <p:cNvPr id="8" name="dw:problem.points.1"/>
          <p:cNvSpPr/>
          <p:nvPr/>
        </p:nvSpPr>
        <p:spPr>
          <a:xfrm>
            <a:off x="1200150" y="4107656"/>
            <a:ext cx="4157186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Schrift schrumpft, bis alles passt</a:t>
            </a:r>
            <a:endParaRPr lang="de-DE" sz="1800" dirty="0"/>
          </a:p>
        </p:txBody>
      </p:sp>
      <p:sp>
        <p:nvSpPr>
          <p:cNvPr id="9" name="dw:_pd.problem.2"/>
          <p:cNvSpPr/>
          <p:nvPr/>
        </p:nvSpPr>
        <p:spPr>
          <a:xfrm>
            <a:off x="990600" y="4676031"/>
            <a:ext cx="76200" cy="76200"/>
          </a:xfrm>
          <a:prstGeom prst="ellipse">
            <a:avLst>
              <a:gd name="adj" fmla="val 50000"/>
            </a:avLst>
          </a:prstGeom>
          <a:solidFill>
            <a:srgbClr val="4F52D9"/>
          </a:solidFill>
          <a:ln/>
        </p:spPr>
      </p:sp>
      <p:sp>
        <p:nvSpPr>
          <p:cNvPr id="10" name="dw:problem.points.2"/>
          <p:cNvSpPr/>
          <p:nvPr/>
        </p:nvSpPr>
        <p:spPr>
          <a:xfrm>
            <a:off x="1200150" y="4556447"/>
            <a:ext cx="4157186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Jede Folie sieht anders aus</a:t>
            </a:r>
            <a:endParaRPr lang="de-DE" sz="1800" dirty="0"/>
          </a:p>
        </p:txBody>
      </p:sp>
      <p:sp>
        <p:nvSpPr>
          <p:cNvPr id="11" name="dw:_arrow"/>
          <p:cNvSpPr/>
          <p:nvPr/>
        </p:nvSpPr>
        <p:spPr>
          <a:xfrm>
            <a:off x="5791200" y="3813944"/>
            <a:ext cx="609600" cy="609600"/>
          </a:xfrm>
          <a:prstGeom prst="ellipse">
            <a:avLst>
              <a:gd name="adj" fmla="val 50000"/>
            </a:avLst>
          </a:prstGeom>
          <a:solidFill>
            <a:srgbClr val="090A17"/>
          </a:solidFill>
          <a:ln/>
        </p:spPr>
      </p:sp>
      <p:pic>
        <p:nvPicPr>
          <p:cNvPr id="12" name="dw:_arrow.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650" y="3985394"/>
            <a:ext cx="266700" cy="266700"/>
          </a:xfrm>
          <a:prstGeom prst="rect">
            <a:avLst/>
          </a:prstGeom>
        </p:spPr>
      </p:pic>
      <p:sp>
        <p:nvSpPr>
          <p:cNvPr id="13" name="dw:_card.solution"/>
          <p:cNvSpPr/>
          <p:nvPr/>
        </p:nvSpPr>
        <p:spPr>
          <a:xfrm>
            <a:off x="6591300" y="2065288"/>
            <a:ext cx="4914900" cy="4106912"/>
          </a:xfrm>
          <a:prstGeom prst="roundRect">
            <a:avLst>
              <a:gd name="adj" fmla="val 928"/>
            </a:avLst>
          </a:prstGeom>
          <a:solidFill>
            <a:srgbClr val="4F52D9"/>
          </a:solidFill>
          <a:ln/>
        </p:spPr>
      </p:sp>
      <p:sp>
        <p:nvSpPr>
          <p:cNvPr id="14" name="dw:solution.heading"/>
          <p:cNvSpPr/>
          <p:nvPr/>
        </p:nvSpPr>
        <p:spPr>
          <a:xfrm>
            <a:off x="6896100" y="3365525"/>
            <a:ext cx="43698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de-DE" altLang="en-US" sz="1050" b="1" spc="11" kern="0" dirty="0">
                <a:solidFill>
                  <a:srgbClr val="E1E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Deckwerk</a:t>
            </a:r>
            <a:endParaRPr lang="de-DE" sz="1050" dirty="0"/>
          </a:p>
        </p:txBody>
      </p:sp>
      <p:sp>
        <p:nvSpPr>
          <p:cNvPr id="15" name="dw:_pd.solution.0"/>
          <p:cNvSpPr/>
          <p:nvPr/>
        </p:nvSpPr>
        <p:spPr>
          <a:xfrm>
            <a:off x="6896100" y="3778448"/>
            <a:ext cx="76200" cy="76200"/>
          </a:xfrm>
          <a:prstGeom prst="ellips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6" name="dw:solution.points.0"/>
          <p:cNvSpPr/>
          <p:nvPr/>
        </p:nvSpPr>
        <p:spPr>
          <a:xfrm>
            <a:off x="7105650" y="3658865"/>
            <a:ext cx="4157186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 wählt nur Layout und Inhalt</a:t>
            </a:r>
            <a:endParaRPr lang="de-DE" sz="1800" dirty="0"/>
          </a:p>
        </p:txBody>
      </p:sp>
      <p:sp>
        <p:nvSpPr>
          <p:cNvPr id="17" name="dw:_pd.solution.1"/>
          <p:cNvSpPr/>
          <p:nvPr/>
        </p:nvSpPr>
        <p:spPr>
          <a:xfrm>
            <a:off x="6896100" y="4227240"/>
            <a:ext cx="76200" cy="76200"/>
          </a:xfrm>
          <a:prstGeom prst="ellips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8" name="dw:solution.points.1"/>
          <p:cNvSpPr/>
          <p:nvPr/>
        </p:nvSpPr>
        <p:spPr>
          <a:xfrm>
            <a:off x="7105650" y="4107656"/>
            <a:ext cx="4157186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 misst und setzt die Schrift</a:t>
            </a:r>
            <a:endParaRPr lang="de-DE" sz="1800" dirty="0"/>
          </a:p>
        </p:txBody>
      </p:sp>
      <p:sp>
        <p:nvSpPr>
          <p:cNvPr id="19" name="dw:_pd.solution.2"/>
          <p:cNvSpPr/>
          <p:nvPr/>
        </p:nvSpPr>
        <p:spPr>
          <a:xfrm>
            <a:off x="6896100" y="4676031"/>
            <a:ext cx="76200" cy="76200"/>
          </a:xfrm>
          <a:prstGeom prst="ellips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0" name="dw:solution.points.2"/>
          <p:cNvSpPr/>
          <p:nvPr/>
        </p:nvSpPr>
        <p:spPr>
          <a:xfrm>
            <a:off x="7105650" y="4556447"/>
            <a:ext cx="4157186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 Design für das ganze Deck</a:t>
            </a:r>
            <a:endParaRPr lang="de-DE" sz="1800" dirty="0"/>
          </a:p>
        </p:txBody>
      </p:sp>
      <p:sp>
        <p:nvSpPr>
          <p:cNvPr id="21" name="dw:_footer.page"/>
          <p:cNvSpPr/>
          <p:nvPr/>
        </p:nvSpPr>
        <p:spPr>
          <a:xfrm>
            <a:off x="11171188" y="6450360"/>
            <a:ext cx="34003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759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12</a:t>
            </a:r>
            <a:endParaRPr lang="de-DE" sz="975" dirty="0"/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w:value"/>
          <p:cNvSpPr/>
          <p:nvPr/>
        </p:nvSpPr>
        <p:spPr>
          <a:xfrm>
            <a:off x="685800" y="1385590"/>
            <a:ext cx="9474518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0"/>
              </a:lnSpc>
              <a:buNone/>
            </a:pPr>
            <a:r>
              <a:rPr lang="de-DE" altLang="en-US" sz="15000" b="1" spc="-600" kern="0" dirty="0">
                <a:solidFill>
                  <a:srgbClr val="4F5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de-DE" sz="15000" dirty="0"/>
          </a:p>
        </p:txBody>
      </p:sp>
      <p:sp>
        <p:nvSpPr>
          <p:cNvPr id="3" name="dw:label"/>
          <p:cNvSpPr/>
          <p:nvPr/>
        </p:nvSpPr>
        <p:spPr>
          <a:xfrm>
            <a:off x="685800" y="3404890"/>
            <a:ext cx="8701088" cy="111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b="1" spc="-85" kern="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Layouts decken Pitch, Strategie,</a:t>
            </a:r>
            <a:endParaRPr lang="de-DE" sz="3843" dirty="0"/>
          </a:p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b="1" spc="-85" kern="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Bericht und Social-Post ab</a:t>
            </a:r>
            <a:endParaRPr lang="de-DE" sz="3843" dirty="0"/>
          </a:p>
        </p:txBody>
      </p:sp>
      <p:sp>
        <p:nvSpPr>
          <p:cNvPr id="4" name="dw:context"/>
          <p:cNvSpPr/>
          <p:nvPr/>
        </p:nvSpPr>
        <p:spPr>
          <a:xfrm>
            <a:off x="685800" y="4727228"/>
            <a:ext cx="9474518" cy="630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5759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Von der Kennzahl über Zeitstrahl und Matrix bis zum Angebot auf A4 – alle nach den Regeln guter Designer gebaut.</a:t>
            </a:r>
            <a:endParaRPr lang="de-DE" sz="1800" dirty="0"/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w:title"/>
          <p:cNvSpPr/>
          <p:nvPr/>
        </p:nvSpPr>
        <p:spPr>
          <a:xfrm>
            <a:off x="685800" y="3698751"/>
            <a:ext cx="9474518" cy="1872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71"/>
              </a:lnSpc>
              <a:buNone/>
            </a:pPr>
            <a:r>
              <a:rPr lang="de-DE" altLang="en-US" sz="6954" b="1" spc="-15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Geprüft, bevor</a:t>
            </a:r>
            <a:endParaRPr lang="de-DE" sz="6954" dirty="0"/>
          </a:p>
          <a:p>
            <a:pPr algn="l" indent="0" marL="0">
              <a:lnSpc>
                <a:spcPts val="7371"/>
              </a:lnSpc>
              <a:buNone/>
            </a:pPr>
            <a:r>
              <a:rPr lang="de-DE" altLang="en-US" sz="6954" b="1" spc="-15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 es siehst</a:t>
            </a:r>
            <a:endParaRPr lang="de-DE" sz="6954" dirty="0"/>
          </a:p>
        </p:txBody>
      </p:sp>
      <p:sp>
        <p:nvSpPr>
          <p:cNvPr id="3" name="dw:subtitle"/>
          <p:cNvSpPr/>
          <p:nvPr/>
        </p:nvSpPr>
        <p:spPr>
          <a:xfrm>
            <a:off x="685800" y="5742459"/>
            <a:ext cx="7540943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E1E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Jede Folie wird gemessen, angepasst und kontrolliert</a:t>
            </a:r>
            <a:endParaRPr lang="de-DE" sz="1800" dirty="0"/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w:title"/>
          <p:cNvSpPr/>
          <p:nvPr/>
        </p:nvSpPr>
        <p:spPr>
          <a:xfrm>
            <a:off x="685800" y="2259062"/>
            <a:ext cx="3596450" cy="222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b="1" spc="-8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 Prüfung</a:t>
            </a:r>
            <a:endParaRPr lang="de-DE" sz="3843" dirty="0"/>
          </a:p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b="1" spc="-8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findet</a:t>
            </a:r>
            <a:endParaRPr lang="de-DE" sz="3843" dirty="0"/>
          </a:p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b="1" spc="-8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Fehler vor</a:t>
            </a:r>
            <a:endParaRPr lang="de-DE" sz="3843" dirty="0"/>
          </a:p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b="1" spc="-8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 Meeting</a:t>
            </a:r>
            <a:endParaRPr lang="de-DE" sz="3843" dirty="0"/>
          </a:p>
        </p:txBody>
      </p:sp>
      <p:sp>
        <p:nvSpPr>
          <p:cNvPr id="3" name="dw:_dot.0"/>
          <p:cNvSpPr/>
          <p:nvPr/>
        </p:nvSpPr>
        <p:spPr>
          <a:xfrm>
            <a:off x="5334000" y="2197968"/>
            <a:ext cx="95250" cy="95250"/>
          </a:xfrm>
          <a:prstGeom prst="roundRect">
            <a:avLst>
              <a:gd name="adj" fmla="val 30000"/>
            </a:avLst>
          </a:prstGeom>
          <a:solidFill>
            <a:srgbClr val="4F52D9"/>
          </a:solidFill>
          <a:ln/>
        </p:spPr>
      </p:sp>
      <p:sp>
        <p:nvSpPr>
          <p:cNvPr id="4" name="dw:items.0.text"/>
          <p:cNvSpPr/>
          <p:nvPr/>
        </p:nvSpPr>
        <p:spPr>
          <a:xfrm>
            <a:off x="5638800" y="2087910"/>
            <a:ext cx="5955411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Text, der überläuft oder sich überlappt</a:t>
            </a:r>
            <a:endParaRPr lang="de-DE" sz="1800" dirty="0"/>
          </a:p>
        </p:txBody>
      </p:sp>
      <p:sp>
        <p:nvSpPr>
          <p:cNvPr id="5" name="dw:_dot.1"/>
          <p:cNvSpPr/>
          <p:nvPr/>
        </p:nvSpPr>
        <p:spPr>
          <a:xfrm>
            <a:off x="5334000" y="2761059"/>
            <a:ext cx="95250" cy="95250"/>
          </a:xfrm>
          <a:prstGeom prst="roundRect">
            <a:avLst>
              <a:gd name="adj" fmla="val 30000"/>
            </a:avLst>
          </a:prstGeom>
          <a:solidFill>
            <a:srgbClr val="4F52D9"/>
          </a:solidFill>
          <a:ln/>
        </p:spPr>
      </p:sp>
      <p:sp>
        <p:nvSpPr>
          <p:cNvPr id="6" name="dw:items.1.text"/>
          <p:cNvSpPr/>
          <p:nvPr/>
        </p:nvSpPr>
        <p:spPr>
          <a:xfrm>
            <a:off x="5638800" y="2651001"/>
            <a:ext cx="5955411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Schrift unter der Mindestgröße</a:t>
            </a:r>
            <a:endParaRPr lang="de-DE" sz="1800" dirty="0"/>
          </a:p>
        </p:txBody>
      </p:sp>
      <p:sp>
        <p:nvSpPr>
          <p:cNvPr id="7" name="dw:_dot.2"/>
          <p:cNvSpPr/>
          <p:nvPr/>
        </p:nvSpPr>
        <p:spPr>
          <a:xfrm>
            <a:off x="5334000" y="3324151"/>
            <a:ext cx="95250" cy="95250"/>
          </a:xfrm>
          <a:prstGeom prst="roundRect">
            <a:avLst>
              <a:gd name="adj" fmla="val 30000"/>
            </a:avLst>
          </a:prstGeom>
          <a:solidFill>
            <a:srgbClr val="4F52D9"/>
          </a:solidFill>
          <a:ln/>
        </p:spPr>
      </p:sp>
      <p:sp>
        <p:nvSpPr>
          <p:cNvPr id="8" name="dw:items.2.text"/>
          <p:cNvSpPr/>
          <p:nvPr/>
        </p:nvSpPr>
        <p:spPr>
          <a:xfrm>
            <a:off x="5638800" y="3214092"/>
            <a:ext cx="5955411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Zu viele Wörter für einen Blick</a:t>
            </a:r>
            <a:endParaRPr lang="de-DE" sz="1800" dirty="0"/>
          </a:p>
        </p:txBody>
      </p:sp>
      <p:sp>
        <p:nvSpPr>
          <p:cNvPr id="9" name="dw:_dot.3"/>
          <p:cNvSpPr/>
          <p:nvPr/>
        </p:nvSpPr>
        <p:spPr>
          <a:xfrm>
            <a:off x="5334000" y="3887242"/>
            <a:ext cx="95250" cy="95250"/>
          </a:xfrm>
          <a:prstGeom prst="roundRect">
            <a:avLst>
              <a:gd name="adj" fmla="val 30000"/>
            </a:avLst>
          </a:prstGeom>
          <a:solidFill>
            <a:srgbClr val="4F52D9"/>
          </a:solidFill>
          <a:ln/>
        </p:spPr>
      </p:sp>
      <p:sp>
        <p:nvSpPr>
          <p:cNvPr id="10" name="dw:items.3.text"/>
          <p:cNvSpPr/>
          <p:nvPr/>
        </p:nvSpPr>
        <p:spPr>
          <a:xfrm>
            <a:off x="5638800" y="3777183"/>
            <a:ext cx="5955411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Einsame Wörter in der letzten Zeile</a:t>
            </a:r>
            <a:endParaRPr lang="de-DE" sz="1800" dirty="0"/>
          </a:p>
        </p:txBody>
      </p:sp>
      <p:sp>
        <p:nvSpPr>
          <p:cNvPr id="11" name="dw:_dot.4"/>
          <p:cNvSpPr/>
          <p:nvPr/>
        </p:nvSpPr>
        <p:spPr>
          <a:xfrm>
            <a:off x="5334000" y="4450333"/>
            <a:ext cx="95250" cy="95250"/>
          </a:xfrm>
          <a:prstGeom prst="roundRect">
            <a:avLst>
              <a:gd name="adj" fmla="val 30000"/>
            </a:avLst>
          </a:prstGeom>
          <a:solidFill>
            <a:srgbClr val="4F52D9"/>
          </a:solidFill>
          <a:ln/>
        </p:spPr>
      </p:sp>
      <p:sp>
        <p:nvSpPr>
          <p:cNvPr id="12" name="dw:items.4.text"/>
          <p:cNvSpPr/>
          <p:nvPr/>
        </p:nvSpPr>
        <p:spPr>
          <a:xfrm>
            <a:off x="5638800" y="4340275"/>
            <a:ext cx="5955411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Monotonie: dreimal dieselbe Folie</a:t>
            </a:r>
            <a:endParaRPr lang="de-DE" sz="1800" dirty="0"/>
          </a:p>
        </p:txBody>
      </p:sp>
      <p:sp>
        <p:nvSpPr>
          <p:cNvPr id="13" name="dw:_footer.title"/>
          <p:cNvSpPr/>
          <p:nvPr/>
        </p:nvSpPr>
        <p:spPr>
          <a:xfrm>
            <a:off x="5334000" y="6450360"/>
            <a:ext cx="16757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759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Geprüft, bevor du es siehst</a:t>
            </a:r>
            <a:endParaRPr lang="de-DE" sz="975" dirty="0"/>
          </a:p>
        </p:txBody>
      </p:sp>
      <p:sp>
        <p:nvSpPr>
          <p:cNvPr id="14" name="dw:_footer.page"/>
          <p:cNvSpPr/>
          <p:nvPr/>
        </p:nvSpPr>
        <p:spPr>
          <a:xfrm>
            <a:off x="11181085" y="6450360"/>
            <a:ext cx="32999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759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12</a:t>
            </a:r>
            <a:endParaRPr lang="de-DE" sz="975" dirty="0"/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w:title"/>
          <p:cNvSpPr/>
          <p:nvPr/>
        </p:nvSpPr>
        <p:spPr>
          <a:xfrm>
            <a:off x="685800" y="571500"/>
            <a:ext cx="9667875" cy="111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b="1" spc="-85" kern="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 Deck, vier Ausgaben – und</a:t>
            </a:r>
            <a:endParaRPr lang="de-DE" sz="3843" dirty="0"/>
          </a:p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b="1" spc="-85" kern="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 PowerPoint bleibt bearbeitbar</a:t>
            </a:r>
            <a:endParaRPr lang="de-DE" sz="3843" dirty="0"/>
          </a:p>
        </p:txBody>
      </p:sp>
      <p:sp>
        <p:nvSpPr>
          <p:cNvPr id="3" name="dw:columns.0"/>
          <p:cNvSpPr/>
          <p:nvPr/>
        </p:nvSpPr>
        <p:spPr>
          <a:xfrm>
            <a:off x="819150" y="2065288"/>
            <a:ext cx="4251524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b="1" dirty="0">
                <a:solidFill>
                  <a:srgbClr val="5759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Ausgabe</a:t>
            </a:r>
            <a:endParaRPr lang="de-DE" sz="1425" dirty="0"/>
          </a:p>
        </p:txBody>
      </p:sp>
      <p:sp>
        <p:nvSpPr>
          <p:cNvPr id="4" name="dw:columns.1"/>
          <p:cNvSpPr/>
          <p:nvPr/>
        </p:nvSpPr>
        <p:spPr>
          <a:xfrm>
            <a:off x="5198343" y="2065288"/>
            <a:ext cx="3036846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b="1" dirty="0">
                <a:solidFill>
                  <a:srgbClr val="5759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Wofür</a:t>
            </a:r>
            <a:endParaRPr lang="de-DE" sz="1425" dirty="0"/>
          </a:p>
        </p:txBody>
      </p:sp>
      <p:sp>
        <p:nvSpPr>
          <p:cNvPr id="5" name="dw:columns.2"/>
          <p:cNvSpPr/>
          <p:nvPr/>
        </p:nvSpPr>
        <p:spPr>
          <a:xfrm>
            <a:off x="8380809" y="2065288"/>
            <a:ext cx="3036921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b="1" dirty="0">
                <a:solidFill>
                  <a:srgbClr val="5759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Bearbeitbar</a:t>
            </a:r>
            <a:endParaRPr lang="de-DE" sz="1425" dirty="0"/>
          </a:p>
        </p:txBody>
      </p:sp>
      <p:sp>
        <p:nvSpPr>
          <p:cNvPr id="6" name="dw:_hl.0"/>
          <p:cNvSpPr/>
          <p:nvPr/>
        </p:nvSpPr>
        <p:spPr>
          <a:xfrm>
            <a:off x="685800" y="2427982"/>
            <a:ext cx="10820400" cy="945207"/>
          </a:xfrm>
          <a:prstGeom prst="roundRect">
            <a:avLst>
              <a:gd name="adj" fmla="val 4031"/>
            </a:avLst>
          </a:prstGeom>
          <a:solidFill>
            <a:srgbClr val="E4E7F7"/>
          </a:solidFill>
          <a:ln/>
        </p:spPr>
      </p:sp>
      <p:sp>
        <p:nvSpPr>
          <p:cNvPr id="7" name="dw:rows.0.0"/>
          <p:cNvSpPr/>
          <p:nvPr/>
        </p:nvSpPr>
        <p:spPr>
          <a:xfrm>
            <a:off x="819150" y="2738065"/>
            <a:ext cx="4251524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b="1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PowerPoint</a:t>
            </a:r>
            <a:endParaRPr lang="de-DE" sz="1800" dirty="0"/>
          </a:p>
        </p:txBody>
      </p:sp>
      <p:sp>
        <p:nvSpPr>
          <p:cNvPr id="8" name="dw:rows.0.1"/>
          <p:cNvSpPr/>
          <p:nvPr/>
        </p:nvSpPr>
        <p:spPr>
          <a:xfrm>
            <a:off x="5198343" y="2580382"/>
            <a:ext cx="3036846" cy="630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b="1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Weitergeben, im Team ändern</a:t>
            </a:r>
            <a:endParaRPr lang="de-DE" sz="1800" dirty="0"/>
          </a:p>
        </p:txBody>
      </p:sp>
      <p:sp>
        <p:nvSpPr>
          <p:cNvPr id="9" name="dw:rows.0.2"/>
          <p:cNvSpPr/>
          <p:nvPr/>
        </p:nvSpPr>
        <p:spPr>
          <a:xfrm>
            <a:off x="8380809" y="2738065"/>
            <a:ext cx="3036921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b="1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Text, Bild, Diagramm</a:t>
            </a:r>
            <a:endParaRPr lang="de-DE" sz="1800" dirty="0"/>
          </a:p>
        </p:txBody>
      </p:sp>
      <p:sp>
        <p:nvSpPr>
          <p:cNvPr id="10" name="dw:rows.1.0"/>
          <p:cNvSpPr/>
          <p:nvPr/>
        </p:nvSpPr>
        <p:spPr>
          <a:xfrm>
            <a:off x="819150" y="3683273"/>
            <a:ext cx="4251524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b="1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</a:t>
            </a:r>
            <a:endParaRPr lang="de-DE" sz="1800" dirty="0"/>
          </a:p>
        </p:txBody>
      </p:sp>
      <p:sp>
        <p:nvSpPr>
          <p:cNvPr id="11" name="dw:rows.1.1"/>
          <p:cNvSpPr/>
          <p:nvPr/>
        </p:nvSpPr>
        <p:spPr>
          <a:xfrm>
            <a:off x="5198343" y="3525589"/>
            <a:ext cx="3036846" cy="630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Verschicken, drucken, Handout</a:t>
            </a:r>
            <a:endParaRPr lang="de-DE" sz="1800" dirty="0"/>
          </a:p>
        </p:txBody>
      </p:sp>
      <p:sp>
        <p:nvSpPr>
          <p:cNvPr id="12" name="dw:rows.1.2"/>
          <p:cNvSpPr/>
          <p:nvPr/>
        </p:nvSpPr>
        <p:spPr>
          <a:xfrm>
            <a:off x="8380809" y="3683273"/>
            <a:ext cx="3036921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de-DE" sz="1800" dirty="0"/>
          </a:p>
        </p:txBody>
      </p:sp>
      <p:sp>
        <p:nvSpPr>
          <p:cNvPr id="13" name="dw:rows.2.0"/>
          <p:cNvSpPr/>
          <p:nvPr/>
        </p:nvSpPr>
        <p:spPr>
          <a:xfrm>
            <a:off x="819150" y="4628480"/>
            <a:ext cx="4251524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b="1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PNG</a:t>
            </a:r>
            <a:endParaRPr lang="de-DE" sz="1800" dirty="0"/>
          </a:p>
        </p:txBody>
      </p:sp>
      <p:sp>
        <p:nvSpPr>
          <p:cNvPr id="14" name="dw:rows.2.1"/>
          <p:cNvSpPr/>
          <p:nvPr/>
        </p:nvSpPr>
        <p:spPr>
          <a:xfrm>
            <a:off x="5198343" y="4470797"/>
            <a:ext cx="3036846" cy="630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Media, Chat, Website</a:t>
            </a:r>
            <a:endParaRPr lang="de-DE" sz="1800" dirty="0"/>
          </a:p>
        </p:txBody>
      </p:sp>
      <p:sp>
        <p:nvSpPr>
          <p:cNvPr id="15" name="dw:rows.2.2"/>
          <p:cNvSpPr/>
          <p:nvPr/>
        </p:nvSpPr>
        <p:spPr>
          <a:xfrm>
            <a:off x="8380809" y="4628480"/>
            <a:ext cx="3036921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de-DE" sz="1800" dirty="0"/>
          </a:p>
        </p:txBody>
      </p:sp>
      <p:sp>
        <p:nvSpPr>
          <p:cNvPr id="16" name="dw:rows.3.0"/>
          <p:cNvSpPr/>
          <p:nvPr/>
        </p:nvSpPr>
        <p:spPr>
          <a:xfrm>
            <a:off x="819150" y="5416004"/>
            <a:ext cx="4251524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b="1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Markdown</a:t>
            </a:r>
            <a:endParaRPr lang="de-DE" sz="1800" dirty="0"/>
          </a:p>
        </p:txBody>
      </p:sp>
      <p:sp>
        <p:nvSpPr>
          <p:cNvPr id="17" name="dw:rows.3.1"/>
          <p:cNvSpPr/>
          <p:nvPr/>
        </p:nvSpPr>
        <p:spPr>
          <a:xfrm>
            <a:off x="5198343" y="5416004"/>
            <a:ext cx="3036846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Notizen, Wiki, weitere KI</a:t>
            </a:r>
            <a:endParaRPr lang="de-DE" sz="1800" dirty="0"/>
          </a:p>
        </p:txBody>
      </p:sp>
      <p:sp>
        <p:nvSpPr>
          <p:cNvPr id="18" name="dw:rows.3.2"/>
          <p:cNvSpPr/>
          <p:nvPr/>
        </p:nvSpPr>
        <p:spPr>
          <a:xfrm>
            <a:off x="8380809" y="5416004"/>
            <a:ext cx="3036921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 Text</a:t>
            </a:r>
            <a:endParaRPr lang="de-DE" sz="1800" dirty="0"/>
          </a:p>
        </p:txBody>
      </p:sp>
      <p:sp>
        <p:nvSpPr>
          <p:cNvPr id="19" name="dw:_footer.title"/>
          <p:cNvSpPr/>
          <p:nvPr/>
        </p:nvSpPr>
        <p:spPr>
          <a:xfrm>
            <a:off x="685800" y="6450360"/>
            <a:ext cx="16757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759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Geprüft, bevor du es siehst</a:t>
            </a:r>
            <a:endParaRPr lang="de-DE" sz="975" dirty="0"/>
          </a:p>
        </p:txBody>
      </p:sp>
      <p:sp>
        <p:nvSpPr>
          <p:cNvPr id="20" name="dw:_footer.page"/>
          <p:cNvSpPr/>
          <p:nvPr/>
        </p:nvSpPr>
        <p:spPr>
          <a:xfrm>
            <a:off x="11174537" y="6450360"/>
            <a:ext cx="33663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759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12</a:t>
            </a:r>
            <a:endParaRPr lang="de-DE" sz="975" dirty="0"/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w:title"/>
          <p:cNvSpPr/>
          <p:nvPr/>
        </p:nvSpPr>
        <p:spPr>
          <a:xfrm>
            <a:off x="685800" y="571500"/>
            <a:ext cx="9667875" cy="111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b="1" spc="-85" kern="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 einem Inhalt werden</a:t>
            </a:r>
            <a:endParaRPr lang="de-DE" sz="3843" dirty="0"/>
          </a:p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b="1" spc="-85" kern="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Folie, Post, Story und Handout</a:t>
            </a:r>
            <a:endParaRPr lang="de-DE" sz="3843" dirty="0"/>
          </a:p>
        </p:txBody>
      </p:sp>
      <p:sp>
        <p:nvSpPr>
          <p:cNvPr id="3" name="dw:_card.0"/>
          <p:cNvSpPr/>
          <p:nvPr/>
        </p:nvSpPr>
        <p:spPr>
          <a:xfrm>
            <a:off x="685800" y="2065288"/>
            <a:ext cx="3271242" cy="1853133"/>
          </a:xfrm>
          <a:prstGeom prst="rect">
            <a:avLst/>
          </a:prstGeom>
          <a:ln/>
        </p:spPr>
      </p:sp>
      <p:sp>
        <p:nvSpPr>
          <p:cNvPr id="4" name="dw:kpis.0.value"/>
          <p:cNvSpPr/>
          <p:nvPr/>
        </p:nvSpPr>
        <p:spPr>
          <a:xfrm>
            <a:off x="685800" y="2141488"/>
            <a:ext cx="3049610" cy="108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de-DE" altLang="en-US" sz="8100" b="1" spc="-243" kern="0" dirty="0">
                <a:solidFill>
                  <a:srgbClr val="4F5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de-DE" sz="8100" dirty="0"/>
          </a:p>
        </p:txBody>
      </p:sp>
      <p:sp>
        <p:nvSpPr>
          <p:cNvPr id="5" name="dw:kpis.0.label"/>
          <p:cNvSpPr/>
          <p:nvPr/>
        </p:nvSpPr>
        <p:spPr>
          <a:xfrm>
            <a:off x="685800" y="3316858"/>
            <a:ext cx="3049610" cy="47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Formate, umschaltbar mit einem Klick</a:t>
            </a:r>
            <a:endParaRPr lang="de-DE" sz="1425" dirty="0"/>
          </a:p>
        </p:txBody>
      </p:sp>
      <p:sp>
        <p:nvSpPr>
          <p:cNvPr id="6" name="dw:_card.1"/>
          <p:cNvSpPr/>
          <p:nvPr/>
        </p:nvSpPr>
        <p:spPr>
          <a:xfrm>
            <a:off x="3957042" y="2065288"/>
            <a:ext cx="2516386" cy="1853133"/>
          </a:xfrm>
          <a:prstGeom prst="rect">
            <a:avLst/>
          </a:prstGeom>
          <a:ln/>
        </p:spPr>
      </p:sp>
      <p:sp>
        <p:nvSpPr>
          <p:cNvPr id="7" name="dw:_rule.1"/>
          <p:cNvSpPr/>
          <p:nvPr/>
        </p:nvSpPr>
        <p:spPr>
          <a:xfrm>
            <a:off x="3957042" y="2141488"/>
            <a:ext cx="19050" cy="1700733"/>
          </a:xfrm>
          <a:prstGeom prst="rect">
            <a:avLst/>
          </a:prstGeom>
          <a:solidFill>
            <a:srgbClr val="D6D6DA"/>
          </a:solidFill>
          <a:ln/>
        </p:spPr>
      </p:sp>
      <p:sp>
        <p:nvSpPr>
          <p:cNvPr id="8" name="dw:kpis.1.value"/>
          <p:cNvSpPr/>
          <p:nvPr/>
        </p:nvSpPr>
        <p:spPr>
          <a:xfrm>
            <a:off x="4223742" y="2436763"/>
            <a:ext cx="2012731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de-DE" altLang="en-US" sz="5400" b="1" spc="-162" kern="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16:9</a:t>
            </a:r>
            <a:endParaRPr lang="de-DE" sz="5400" dirty="0"/>
          </a:p>
        </p:txBody>
      </p:sp>
      <p:sp>
        <p:nvSpPr>
          <p:cNvPr id="9" name="dw:kpis.1.label"/>
          <p:cNvSpPr/>
          <p:nvPr/>
        </p:nvSpPr>
        <p:spPr>
          <a:xfrm>
            <a:off x="4223742" y="3316858"/>
            <a:ext cx="2012731" cy="47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Präsentation für Beamer und Bildschirm</a:t>
            </a:r>
            <a:endParaRPr lang="de-DE" sz="1425" dirty="0"/>
          </a:p>
        </p:txBody>
      </p:sp>
      <p:sp>
        <p:nvSpPr>
          <p:cNvPr id="10" name="dw:_card.2"/>
          <p:cNvSpPr/>
          <p:nvPr/>
        </p:nvSpPr>
        <p:spPr>
          <a:xfrm>
            <a:off x="6473428" y="2065288"/>
            <a:ext cx="2516386" cy="1853133"/>
          </a:xfrm>
          <a:prstGeom prst="rect">
            <a:avLst/>
          </a:prstGeom>
          <a:ln/>
        </p:spPr>
      </p:sp>
      <p:sp>
        <p:nvSpPr>
          <p:cNvPr id="11" name="dw:_rule.2"/>
          <p:cNvSpPr/>
          <p:nvPr/>
        </p:nvSpPr>
        <p:spPr>
          <a:xfrm>
            <a:off x="6473428" y="2141488"/>
            <a:ext cx="19050" cy="1700733"/>
          </a:xfrm>
          <a:prstGeom prst="rect">
            <a:avLst/>
          </a:prstGeom>
          <a:solidFill>
            <a:srgbClr val="D6D6DA"/>
          </a:solidFill>
          <a:ln/>
        </p:spPr>
      </p:sp>
      <p:sp>
        <p:nvSpPr>
          <p:cNvPr id="12" name="dw:kpis.2.value"/>
          <p:cNvSpPr/>
          <p:nvPr/>
        </p:nvSpPr>
        <p:spPr>
          <a:xfrm>
            <a:off x="6740128" y="2436763"/>
            <a:ext cx="2012731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de-DE" altLang="en-US" sz="5400" b="1" spc="-162" kern="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4:5</a:t>
            </a:r>
            <a:endParaRPr lang="de-DE" sz="5400" dirty="0"/>
          </a:p>
        </p:txBody>
      </p:sp>
      <p:sp>
        <p:nvSpPr>
          <p:cNvPr id="13" name="dw:kpis.2.label"/>
          <p:cNvSpPr/>
          <p:nvPr/>
        </p:nvSpPr>
        <p:spPr>
          <a:xfrm>
            <a:off x="6740128" y="3316858"/>
            <a:ext cx="2012731" cy="47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für Instagram und LinkedIn</a:t>
            </a:r>
            <a:endParaRPr lang="de-DE" sz="1425" dirty="0"/>
          </a:p>
        </p:txBody>
      </p:sp>
      <p:sp>
        <p:nvSpPr>
          <p:cNvPr id="14" name="dw:_card.3"/>
          <p:cNvSpPr/>
          <p:nvPr/>
        </p:nvSpPr>
        <p:spPr>
          <a:xfrm>
            <a:off x="8989814" y="2065288"/>
            <a:ext cx="2516312" cy="1853133"/>
          </a:xfrm>
          <a:prstGeom prst="rect">
            <a:avLst/>
          </a:prstGeom>
          <a:ln/>
        </p:spPr>
      </p:sp>
      <p:sp>
        <p:nvSpPr>
          <p:cNvPr id="15" name="dw:_rule.3"/>
          <p:cNvSpPr/>
          <p:nvPr/>
        </p:nvSpPr>
        <p:spPr>
          <a:xfrm>
            <a:off x="8989814" y="2141488"/>
            <a:ext cx="19050" cy="1700733"/>
          </a:xfrm>
          <a:prstGeom prst="rect">
            <a:avLst/>
          </a:prstGeom>
          <a:solidFill>
            <a:srgbClr val="D6D6DA"/>
          </a:solidFill>
          <a:ln/>
        </p:spPr>
      </p:sp>
      <p:sp>
        <p:nvSpPr>
          <p:cNvPr id="16" name="dw:kpis.3.value"/>
          <p:cNvSpPr/>
          <p:nvPr/>
        </p:nvSpPr>
        <p:spPr>
          <a:xfrm>
            <a:off x="9256514" y="2436763"/>
            <a:ext cx="2012655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de-DE" altLang="en-US" sz="5400" b="1" spc="-162" kern="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A4</a:t>
            </a:r>
            <a:endParaRPr lang="de-DE" sz="5400" dirty="0"/>
          </a:p>
        </p:txBody>
      </p:sp>
      <p:sp>
        <p:nvSpPr>
          <p:cNvPr id="17" name="dw:kpis.3.label"/>
          <p:cNvSpPr/>
          <p:nvPr/>
        </p:nvSpPr>
        <p:spPr>
          <a:xfrm>
            <a:off x="9256514" y="3316858"/>
            <a:ext cx="2012655" cy="47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Handout, Infoblatt und Angebot</a:t>
            </a:r>
            <a:endParaRPr lang="de-DE" sz="1425" dirty="0"/>
          </a:p>
        </p:txBody>
      </p:sp>
      <p:sp>
        <p:nvSpPr>
          <p:cNvPr id="18" name="dw:source"/>
          <p:cNvSpPr/>
          <p:nvPr/>
        </p:nvSpPr>
        <p:spPr>
          <a:xfrm>
            <a:off x="685800" y="6023670"/>
            <a:ext cx="1098270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759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Weitere Formate: 4:3, 1:1, 9:16 (Story) und A4 quer</a:t>
            </a:r>
            <a:endParaRPr lang="de-DE" sz="975" dirty="0"/>
          </a:p>
        </p:txBody>
      </p:sp>
      <p:sp>
        <p:nvSpPr>
          <p:cNvPr id="19" name="dw:_footer.title"/>
          <p:cNvSpPr/>
          <p:nvPr/>
        </p:nvSpPr>
        <p:spPr>
          <a:xfrm>
            <a:off x="685800" y="6450360"/>
            <a:ext cx="16757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759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Geprüft, bevor du es siehst</a:t>
            </a:r>
            <a:endParaRPr lang="de-DE" sz="975" dirty="0"/>
          </a:p>
        </p:txBody>
      </p:sp>
      <p:sp>
        <p:nvSpPr>
          <p:cNvPr id="20" name="dw:_footer.page"/>
          <p:cNvSpPr/>
          <p:nvPr/>
        </p:nvSpPr>
        <p:spPr>
          <a:xfrm>
            <a:off x="11174388" y="6450360"/>
            <a:ext cx="33678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759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12</a:t>
            </a:r>
            <a:endParaRPr lang="de-DE" sz="975" dirty="0"/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w:image" descr=" ">    </p:cNvPr>
          <p:cNvPicPr>
            <a:picLocks noChangeAspect="1"/>
          </p:cNvPicPr>
          <p:nvPr/>
        </p:nvPicPr>
        <p:blipFill>
          <a:blip r:embed="rId2"/>
          <a:srcRect l="0" r="0" t="12500" b="125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dw:_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0004">
                  <a:alpha val="90000"/>
                </a:srgbClr>
              </a:gs>
              <a:gs pos="50000">
                <a:srgbClr val="000004">
                  <a:alpha val="80000"/>
                </a:srgbClr>
              </a:gs>
              <a:gs pos="80000">
                <a:srgbClr val="000004">
                  <a:alpha val="62000"/>
                </a:srgbClr>
              </a:gs>
              <a:gs pos="90000">
                <a:srgbClr val="000004">
                  <a:alpha val="40000"/>
                </a:srgbClr>
              </a:gs>
              <a:gs pos="100000">
                <a:srgbClr val="000004">
                  <a:alpha val="15000"/>
                </a:srgbClr>
              </a:gs>
            </a:gsLst>
            <a:lin ang="0" scaled="0"/>
          </a:gradFill>
          <a:ln/>
        </p:spPr>
      </p:sp>
      <p:sp>
        <p:nvSpPr>
          <p:cNvPr id="4" name="dw:title"/>
          <p:cNvSpPr/>
          <p:nvPr/>
        </p:nvSpPr>
        <p:spPr>
          <a:xfrm>
            <a:off x="685800" y="2414290"/>
            <a:ext cx="5800725" cy="111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b="1" spc="-8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Deine Decks bleiben</a:t>
            </a:r>
            <a:endParaRPr lang="de-DE" sz="3843" dirty="0"/>
          </a:p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b="1" spc="-8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auf deinem Rechner</a:t>
            </a:r>
            <a:endParaRPr lang="de-DE" sz="3843" dirty="0"/>
          </a:p>
        </p:txBody>
      </p:sp>
      <p:sp>
        <p:nvSpPr>
          <p:cNvPr id="5" name="dw:subtitle"/>
          <p:cNvSpPr/>
          <p:nvPr/>
        </p:nvSpPr>
        <p:spPr>
          <a:xfrm>
            <a:off x="685800" y="3660428"/>
            <a:ext cx="5800725" cy="630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E9E9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Kein Konto, keine Cloud von uns. Die KI bringst du mit: Claude, ChatGPT oder Mistral.</a:t>
            </a:r>
            <a:endParaRPr lang="de-DE" sz="1800" dirty="0"/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w:value"/>
          <p:cNvSpPr/>
          <p:nvPr/>
        </p:nvSpPr>
        <p:spPr>
          <a:xfrm>
            <a:off x="685800" y="1107356"/>
            <a:ext cx="9474518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0"/>
              </a:lnSpc>
              <a:buNone/>
            </a:pPr>
            <a:r>
              <a:rPr lang="de-DE" altLang="en-US" sz="15000" b="1" spc="-600" kern="0" dirty="0">
                <a:solidFill>
                  <a:srgbClr val="4F5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de-DE" sz="15000" dirty="0"/>
          </a:p>
        </p:txBody>
      </p:sp>
      <p:sp>
        <p:nvSpPr>
          <p:cNvPr id="3" name="dw:label"/>
          <p:cNvSpPr/>
          <p:nvPr/>
        </p:nvSpPr>
        <p:spPr>
          <a:xfrm>
            <a:off x="685800" y="3126656"/>
            <a:ext cx="8701088" cy="1669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b="1" spc="-85" kern="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Werkzeuge im MCP-Server</a:t>
            </a:r>
            <a:endParaRPr lang="de-DE" sz="3843" dirty="0"/>
          </a:p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b="1" spc="-85" kern="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 Agenten bauen</a:t>
            </a:r>
            <a:endParaRPr lang="de-DE" sz="3843" dirty="0"/>
          </a:p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b="1" spc="-85" kern="0" dirty="0">
                <a:solidFill>
                  <a:srgbClr val="09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Decks direkt im Terminal</a:t>
            </a:r>
            <a:endParaRPr lang="de-DE" sz="3843" dirty="0"/>
          </a:p>
        </p:txBody>
      </p:sp>
      <p:sp>
        <p:nvSpPr>
          <p:cNvPr id="4" name="dw:context"/>
          <p:cNvSpPr/>
          <p:nvPr/>
        </p:nvSpPr>
        <p:spPr>
          <a:xfrm>
            <a:off x="685800" y="5005388"/>
            <a:ext cx="9474518" cy="630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5759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Code, Codex und Vibe legen Decks an, fügen Folien hinzu, rendern, prüfen und exportieren.</a:t>
            </a:r>
            <a:endParaRPr lang="de-DE" sz="1800" dirty="0"/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w:image" descr=" ">    </p:cNvPr>
          <p:cNvPicPr>
            <a:picLocks noChangeAspect="1"/>
          </p:cNvPicPr>
          <p:nvPr/>
        </p:nvPicPr>
        <p:blipFill>
          <a:blip r:embed="rId2"/>
          <a:srcRect l="0" r="0"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dw:_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0004">
                  <a:alpha val="90000"/>
                </a:srgbClr>
              </a:gs>
              <a:gs pos="50000">
                <a:srgbClr val="000004">
                  <a:alpha val="80000"/>
                </a:srgbClr>
              </a:gs>
              <a:gs pos="80000">
                <a:srgbClr val="000004">
                  <a:alpha val="62000"/>
                </a:srgbClr>
              </a:gs>
              <a:gs pos="90000">
                <a:srgbClr val="000004">
                  <a:alpha val="40000"/>
                </a:srgbClr>
              </a:gs>
              <a:gs pos="100000">
                <a:srgbClr val="000004">
                  <a:alpha val="15000"/>
                </a:srgbClr>
              </a:gs>
            </a:gsLst>
            <a:lin ang="0" scaled="0"/>
          </a:gradFill>
          <a:ln/>
        </p:spPr>
      </p:sp>
      <p:sp>
        <p:nvSpPr>
          <p:cNvPr id="4" name="dw:title"/>
          <p:cNvSpPr/>
          <p:nvPr/>
        </p:nvSpPr>
        <p:spPr>
          <a:xfrm>
            <a:off x="685800" y="909265"/>
            <a:ext cx="7927658" cy="2808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71"/>
              </a:lnSpc>
              <a:buNone/>
            </a:pPr>
            <a:r>
              <a:rPr lang="de-DE" altLang="en-US" sz="6954" b="1" spc="-15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Bau dein</a:t>
            </a:r>
            <a:endParaRPr lang="de-DE" sz="6954" dirty="0"/>
          </a:p>
          <a:p>
            <a:pPr algn="l" indent="0" marL="0">
              <a:lnSpc>
                <a:spcPts val="7371"/>
              </a:lnSpc>
              <a:buNone/>
            </a:pPr>
            <a:r>
              <a:rPr lang="de-DE" altLang="en-US" sz="6954" b="1" spc="-15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nächstes Deck</a:t>
            </a:r>
            <a:endParaRPr lang="de-DE" sz="6954" dirty="0"/>
          </a:p>
          <a:p>
            <a:pPr algn="l" indent="0" marL="0">
              <a:lnSpc>
                <a:spcPts val="7371"/>
              </a:lnSpc>
              <a:buNone/>
            </a:pPr>
            <a:r>
              <a:rPr lang="de-DE" altLang="en-US" sz="6954" b="1" spc="-15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einem Satz</a:t>
            </a:r>
            <a:endParaRPr lang="de-DE" sz="6954" dirty="0"/>
          </a:p>
        </p:txBody>
      </p:sp>
      <p:sp>
        <p:nvSpPr>
          <p:cNvPr id="5" name="dw:subtitle"/>
          <p:cNvSpPr/>
          <p:nvPr/>
        </p:nvSpPr>
        <p:spPr>
          <a:xfrm>
            <a:off x="685800" y="3946252"/>
            <a:ext cx="7927658" cy="630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E9E9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Kostenlos und Open Source, für Mac und Linux. In zwei Minuten startklar.</a:t>
            </a:r>
            <a:endParaRPr lang="de-DE" sz="1800" dirty="0"/>
          </a:p>
        </p:txBody>
      </p:sp>
      <p:sp>
        <p:nvSpPr>
          <p:cNvPr id="6" name="dw:contact.0"/>
          <p:cNvSpPr/>
          <p:nvPr/>
        </p:nvSpPr>
        <p:spPr>
          <a:xfrm>
            <a:off x="685800" y="5933331"/>
            <a:ext cx="2802475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E9E9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bavarianator.github.io/deckwerk</a:t>
            </a:r>
            <a:endParaRPr lang="de-DE" sz="1425" dirty="0"/>
          </a:p>
        </p:txBody>
      </p:sp>
      <p:sp>
        <p:nvSpPr>
          <p:cNvPr id="7" name="dw:contact.1"/>
          <p:cNvSpPr/>
          <p:nvPr/>
        </p:nvSpPr>
        <p:spPr>
          <a:xfrm>
            <a:off x="3827859" y="5933331"/>
            <a:ext cx="3048326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E9E9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github.com/Bavarianator/deckwerk</a:t>
            </a:r>
            <a:endParaRPr lang="de-DE" sz="1425" dirty="0"/>
          </a:p>
        </p:txBody>
      </p:sp>
      <p:pic>
        <p:nvPicPr>
          <p:cNvPr id="8" name="dw:_q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900" y="4914900"/>
            <a:ext cx="1257300" cy="12573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Deckwerk</dc:title>
  <dc:subject>PptxGenJS Presentation</dc:subject>
  <dc:creator>Deckwerk</dc:creator>
  <cp:lastModifiedBy>Deckwerk</cp:lastModifiedBy>
  <cp:revision>1</cp:revision>
  <dcterms:created xsi:type="dcterms:W3CDTF">2026-10-09T12:33:56Z</dcterms:created>
  <dcterms:modified xsi:type="dcterms:W3CDTF">2026-10-09T12:33:56Z</dcterms:modified>
</cp:coreProperties>
</file>