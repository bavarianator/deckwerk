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IBM Plex Sans" pitchFamily="3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A7C6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02B"/>
                    </a:solidFill>
                    <a:latin typeface="IBM Plex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</c:v>
                </c:pt>
                <c:pt idx="1">
                  <c:v>3.9</c:v>
                </c:pt>
                <c:pt idx="2">
                  <c:v>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8A939C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02B"/>
                    </a:solidFill>
                    <a:latin typeface="IBM Plex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3.9</c:v>
                </c:pt>
                <c:pt idx="1">
                  <c:v>4.4</c:v>
                </c:pt>
                <c:pt idx="2">
                  <c:v>4.8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1" i="0" strike="noStrike" sz="1100" u="none">
                  <a:solidFill>
                    <a:srgbClr val="16202B"/>
                  </a:solidFill>
                  <a:latin typeface="IBM Plex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0"/>
                </a:solidFill>
                <a:latin typeface="IBM Plex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0"/>
                </a:solidFill>
                <a:latin typeface="IBM Plex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202B"/>
              </a:solidFill>
              <a:latin typeface="IBM Plex Sans"/>
              <a:cs typeface="IBM Plex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Zehn Minuten, dann Entscheidung. Alles Wichtige steht auf Folie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Wer nur diese Folie sieht, kennt Lage, Ursache und Bitte.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gegenüber Plan Q3. Deckungsbeitrag inklusive Rabatte.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ist saisonal stark, aber der Abstand zum Vorjahr wächst seit Q1.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die Erfolge, rechts die Risiken. Neukunden sind das eigentliche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Empfehlung ist Option B. Option A verschiebt das Problem, Option C dauert zu lange.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Wer, was, bis wann. Stellenausschreibung ist vorbereitet und geht nach Freigabe sofort raus.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die Freigabe bitten, dann 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w:eyebrow"/>
          <p:cNvSpPr/>
          <p:nvPr/>
        </p:nvSpPr>
        <p:spPr>
          <a:xfrm>
            <a:off x="5501200" y="1811759"/>
            <a:ext cx="11895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Vertrieb · Q3 2026</a:t>
            </a:r>
            <a:endParaRPr lang="de-DE" sz="1050" dirty="0"/>
          </a:p>
        </p:txBody>
      </p:sp>
      <p:sp>
        <p:nvSpPr>
          <p:cNvPr id="3" name="!!dw:title"/>
          <p:cNvSpPr/>
          <p:nvPr/>
        </p:nvSpPr>
        <p:spPr>
          <a:xfrm>
            <a:off x="1262063" y="2200349"/>
            <a:ext cx="9667875" cy="2301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2"/>
              </a:lnSpc>
              <a:buNone/>
            </a:pPr>
            <a:r>
              <a:rPr lang="de-DE" altLang="en-US" sz="5700" b="1" spc="-8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 Vertrieb liegt 9 %</a:t>
            </a:r>
            <a:endParaRPr lang="de-DE" sz="5700" dirty="0"/>
          </a:p>
          <a:p>
            <a:pPr algn="ctr" indent="0" marL="0">
              <a:lnSpc>
                <a:spcPts val="6042"/>
              </a:lnSpc>
              <a:buNone/>
            </a:pPr>
            <a:r>
              <a:rPr lang="de-DE" altLang="en-US" sz="5700" b="1" spc="-8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über Plan und braucht</a:t>
            </a:r>
            <a:endParaRPr lang="de-DE" sz="5700" dirty="0"/>
          </a:p>
          <a:p>
            <a:pPr algn="ctr" indent="0" marL="0">
              <a:lnSpc>
                <a:spcPts val="6042"/>
              </a:lnSpc>
              <a:buNone/>
            </a:pPr>
            <a:r>
              <a:rPr lang="de-DE" altLang="en-US" sz="5700" b="1" spc="-8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jetzt zwei Stellen mehr</a:t>
            </a:r>
            <a:endParaRPr lang="de-DE" sz="5700" dirty="0"/>
          </a:p>
        </p:txBody>
      </p:sp>
      <p:sp>
        <p:nvSpPr>
          <p:cNvPr id="4" name="!!dw:subtitle"/>
          <p:cNvSpPr/>
          <p:nvPr/>
        </p:nvSpPr>
        <p:spPr>
          <a:xfrm>
            <a:off x="3971409" y="4730800"/>
            <a:ext cx="4249182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Quartalsupdate für die Geschäftsführung</a:t>
            </a:r>
            <a:endParaRPr lang="de-DE" sz="1800" dirty="0"/>
          </a:p>
        </p:txBody>
      </p:sp>
      <p:sp>
        <p:nvSpPr>
          <p:cNvPr id="5" name="!!dw:meta"/>
          <p:cNvSpPr/>
          <p:nvPr/>
        </p:nvSpPr>
        <p:spPr>
          <a:xfrm>
            <a:off x="5428878" y="5933331"/>
            <a:ext cx="1354182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Oktober 2026</a:t>
            </a:r>
            <a:endParaRPr lang="de-DE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w:eyebrow"/>
          <p:cNvSpPr/>
          <p:nvPr/>
        </p:nvSpPr>
        <p:spPr>
          <a:xfrm>
            <a:off x="685800" y="571500"/>
            <a:ext cx="12878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Summary</a:t>
            </a:r>
            <a:endParaRPr lang="de-DE" sz="1050" dirty="0"/>
          </a:p>
        </p:txBody>
      </p:sp>
      <p:sp>
        <p:nvSpPr>
          <p:cNvPr id="3" name="!!dw:title"/>
          <p:cNvSpPr/>
          <p:nvPr/>
        </p:nvSpPr>
        <p:spPr>
          <a:xfrm>
            <a:off x="685800" y="864840"/>
            <a:ext cx="9667875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Drei Punkte entscheiden über das vierte Quartal</a:t>
            </a:r>
            <a:endParaRPr lang="de-DE" sz="3150" dirty="0"/>
          </a:p>
        </p:txBody>
      </p:sp>
      <p:sp>
        <p:nvSpPr>
          <p:cNvPr id="4" name="!!dw:_dot.0"/>
          <p:cNvSpPr/>
          <p:nvPr/>
        </p:nvSpPr>
        <p:spPr>
          <a:xfrm>
            <a:off x="685800" y="1860872"/>
            <a:ext cx="95250" cy="95250"/>
          </a:xfrm>
          <a:prstGeom prst="roundRect">
            <a:avLst>
              <a:gd name="adj" fmla="val 30000"/>
            </a:avLst>
          </a:prstGeom>
          <a:solidFill>
            <a:srgbClr val="0A7C66"/>
          </a:solidFill>
          <a:ln/>
        </p:spPr>
      </p:sp>
      <p:sp>
        <p:nvSpPr>
          <p:cNvPr id="5" name="!!dw:items.0.text"/>
          <p:cNvSpPr/>
          <p:nvPr/>
        </p:nvSpPr>
        <p:spPr>
          <a:xfrm>
            <a:off x="990600" y="1711375"/>
            <a:ext cx="9358503" cy="3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de-DE" altLang="en-US" sz="22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Auftragseingang 9 % über Plan, getragen von Bestandskunden</a:t>
            </a:r>
            <a:endParaRPr lang="de-DE" sz="2250" dirty="0"/>
          </a:p>
        </p:txBody>
      </p:sp>
      <p:sp>
        <p:nvSpPr>
          <p:cNvPr id="6" name="!!dw:items.0.sub"/>
          <p:cNvSpPr/>
          <p:nvPr/>
        </p:nvSpPr>
        <p:spPr>
          <a:xfrm>
            <a:off x="990600" y="2143795"/>
            <a:ext cx="9358503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Neukundenanteil sinkt, das Wachstum ist nicht nachhaltig</a:t>
            </a:r>
            <a:endParaRPr lang="de-DE" sz="1425" dirty="0"/>
          </a:p>
        </p:txBody>
      </p:sp>
      <p:sp>
        <p:nvSpPr>
          <p:cNvPr id="7" name="!!dw:_dot.1"/>
          <p:cNvSpPr/>
          <p:nvPr/>
        </p:nvSpPr>
        <p:spPr>
          <a:xfrm>
            <a:off x="685800" y="2913162"/>
            <a:ext cx="95250" cy="95250"/>
          </a:xfrm>
          <a:prstGeom prst="roundRect">
            <a:avLst>
              <a:gd name="adj" fmla="val 30000"/>
            </a:avLst>
          </a:prstGeom>
          <a:solidFill>
            <a:srgbClr val="0A7C66"/>
          </a:solidFill>
          <a:ln/>
        </p:spPr>
      </p:sp>
      <p:sp>
        <p:nvSpPr>
          <p:cNvPr id="8" name="!!dw:items.1.text"/>
          <p:cNvSpPr/>
          <p:nvPr/>
        </p:nvSpPr>
        <p:spPr>
          <a:xfrm>
            <a:off x="990600" y="2763664"/>
            <a:ext cx="9358503" cy="3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de-DE" altLang="en-US" sz="22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 Außendienst ist seit Juli an der Kapazitätsgrenze</a:t>
            </a:r>
            <a:endParaRPr lang="de-DE" sz="2250" dirty="0"/>
          </a:p>
        </p:txBody>
      </p:sp>
      <p:sp>
        <p:nvSpPr>
          <p:cNvPr id="9" name="!!dw:items.1.sub"/>
          <p:cNvSpPr/>
          <p:nvPr/>
        </p:nvSpPr>
        <p:spPr>
          <a:xfrm>
            <a:off x="990600" y="3196084"/>
            <a:ext cx="9358503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Durchschnittlich 62 offene Leads pro Mitarbeiter, Ziel sind 35</a:t>
            </a:r>
            <a:endParaRPr lang="de-DE" sz="1425" dirty="0"/>
          </a:p>
        </p:txBody>
      </p:sp>
      <p:sp>
        <p:nvSpPr>
          <p:cNvPr id="10" name="!!dw:_dot.2"/>
          <p:cNvSpPr/>
          <p:nvPr/>
        </p:nvSpPr>
        <p:spPr>
          <a:xfrm>
            <a:off x="685800" y="3965451"/>
            <a:ext cx="95250" cy="95250"/>
          </a:xfrm>
          <a:prstGeom prst="roundRect">
            <a:avLst>
              <a:gd name="adj" fmla="val 30000"/>
            </a:avLst>
          </a:prstGeom>
          <a:solidFill>
            <a:srgbClr val="0A7C66"/>
          </a:solidFill>
          <a:ln/>
        </p:spPr>
      </p:sp>
      <p:sp>
        <p:nvSpPr>
          <p:cNvPr id="11" name="!!dw:items.2.text"/>
          <p:cNvSpPr/>
          <p:nvPr/>
        </p:nvSpPr>
        <p:spPr>
          <a:xfrm>
            <a:off x="990600" y="3815953"/>
            <a:ext cx="9358503" cy="3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de-DE" altLang="en-US" sz="22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Bitte: zwei Stellen ab 1. November freigeben</a:t>
            </a:r>
            <a:endParaRPr lang="de-DE" sz="2250" dirty="0"/>
          </a:p>
        </p:txBody>
      </p:sp>
      <p:sp>
        <p:nvSpPr>
          <p:cNvPr id="12" name="!!dw:items.2.sub"/>
          <p:cNvSpPr/>
          <p:nvPr/>
        </p:nvSpPr>
        <p:spPr>
          <a:xfrm>
            <a:off x="990600" y="4248373"/>
            <a:ext cx="9358503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Amortisation nach sieben Monaten, Details auf Folie 6</a:t>
            </a:r>
            <a:endParaRPr lang="de-DE" sz="1425" dirty="0"/>
          </a:p>
        </p:txBody>
      </p:sp>
      <p:sp>
        <p:nvSpPr>
          <p:cNvPr id="13" name="!!dw:_footer.title"/>
          <p:cNvSpPr/>
          <p:nvPr/>
        </p:nvSpPr>
        <p:spPr>
          <a:xfrm>
            <a:off x="685800" y="6450360"/>
            <a:ext cx="115213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Q3-Update Vertrieb</a:t>
            </a:r>
            <a:endParaRPr lang="de-DE" sz="975" dirty="0"/>
          </a:p>
        </p:txBody>
      </p:sp>
      <p:sp>
        <p:nvSpPr>
          <p:cNvPr id="14" name="!!dw:_footer.page"/>
          <p:cNvSpPr/>
          <p:nvPr/>
        </p:nvSpPr>
        <p:spPr>
          <a:xfrm>
            <a:off x="11429405" y="6450360"/>
            <a:ext cx="779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de-DE" sz="97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w:eyebrow"/>
          <p:cNvSpPr/>
          <p:nvPr/>
        </p:nvSpPr>
        <p:spPr>
          <a:xfrm>
            <a:off x="685800" y="571500"/>
            <a:ext cx="9390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Lage in Zahlen</a:t>
            </a:r>
            <a:endParaRPr lang="de-DE" sz="1050" dirty="0"/>
          </a:p>
        </p:txBody>
      </p:sp>
      <p:sp>
        <p:nvSpPr>
          <p:cNvPr id="3" name="!!dw:title"/>
          <p:cNvSpPr/>
          <p:nvPr/>
        </p:nvSpPr>
        <p:spPr>
          <a:xfrm>
            <a:off x="685800" y="864840"/>
            <a:ext cx="9667875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9"/>
              </a:lnSpc>
              <a:buNone/>
            </a:pPr>
            <a:r>
              <a:rPr lang="de-DE" altLang="en-US" sz="2850" b="1" spc="-43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Umsatz und Marge liegen über</a:t>
            </a:r>
            <a:endParaRPr lang="de-DE" sz="2850" dirty="0"/>
          </a:p>
          <a:p>
            <a:pPr algn="l" indent="0" marL="0">
              <a:lnSpc>
                <a:spcPts val="3249"/>
              </a:lnSpc>
              <a:buNone/>
            </a:pPr>
            <a:r>
              <a:rPr lang="de-DE" altLang="en-US" sz="2850" b="1" spc="-43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Plan, die Neukundenquote darunter</a:t>
            </a:r>
            <a:endParaRPr lang="de-DE" sz="2850" dirty="0"/>
          </a:p>
        </p:txBody>
      </p:sp>
      <p:sp>
        <p:nvSpPr>
          <p:cNvPr id="4" name="!!dw:_card.0"/>
          <p:cNvSpPr/>
          <p:nvPr/>
        </p:nvSpPr>
        <p:spPr>
          <a:xfrm>
            <a:off x="685800" y="2080468"/>
            <a:ext cx="3271242" cy="1863700"/>
          </a:xfrm>
          <a:prstGeom prst="rect">
            <a:avLst/>
          </a:prstGeom>
          <a:ln/>
        </p:spPr>
      </p:sp>
      <p:sp>
        <p:nvSpPr>
          <p:cNvPr id="5" name="!!dw:kpis.0.value"/>
          <p:cNvSpPr/>
          <p:nvPr/>
        </p:nvSpPr>
        <p:spPr>
          <a:xfrm>
            <a:off x="685800" y="2156668"/>
            <a:ext cx="2401410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3"/>
              </a:lnSpc>
              <a:buNone/>
            </a:pPr>
            <a:r>
              <a:rPr lang="de-DE" altLang="en-US" sz="5813" b="1" spc="-174" kern="0" dirty="0">
                <a:solidFill>
                  <a:srgbClr val="0A7C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4,8 Mio</a:t>
            </a:r>
            <a:endParaRPr lang="de-DE" sz="5813" dirty="0"/>
          </a:p>
        </p:txBody>
      </p:sp>
      <p:sp>
        <p:nvSpPr>
          <p:cNvPr id="6" name="!!dw:kpis.0.label"/>
          <p:cNvSpPr/>
          <p:nvPr/>
        </p:nvSpPr>
        <p:spPr>
          <a:xfrm>
            <a:off x="685800" y="3027015"/>
            <a:ext cx="2401410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Auftragseingang Q3</a:t>
            </a:r>
            <a:endParaRPr lang="de-DE" sz="1425" dirty="0"/>
          </a:p>
        </p:txBody>
      </p:sp>
      <p:pic>
        <p:nvPicPr>
          <p:cNvPr id="7" name="!!dw:_arrow.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67274"/>
            <a:ext cx="171450" cy="171450"/>
          </a:xfrm>
          <a:prstGeom prst="rect">
            <a:avLst/>
          </a:prstGeom>
        </p:spPr>
      </p:pic>
      <p:sp>
        <p:nvSpPr>
          <p:cNvPr id="8" name="!!dw:kpis.0.delta"/>
          <p:cNvSpPr/>
          <p:nvPr/>
        </p:nvSpPr>
        <p:spPr>
          <a:xfrm>
            <a:off x="914400" y="3638104"/>
            <a:ext cx="1043375" cy="22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de-DE" altLang="en-US" sz="1275" b="1" dirty="0">
                <a:solidFill>
                  <a:srgbClr val="1E7A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+9 % vs. Plan</a:t>
            </a:r>
            <a:endParaRPr lang="de-DE" sz="1275" dirty="0"/>
          </a:p>
        </p:txBody>
      </p:sp>
      <p:sp>
        <p:nvSpPr>
          <p:cNvPr id="9" name="!!dw:_card.1"/>
          <p:cNvSpPr/>
          <p:nvPr/>
        </p:nvSpPr>
        <p:spPr>
          <a:xfrm>
            <a:off x="3957042" y="2080468"/>
            <a:ext cx="2516386" cy="1863700"/>
          </a:xfrm>
          <a:prstGeom prst="rect">
            <a:avLst/>
          </a:prstGeom>
          <a:ln/>
        </p:spPr>
      </p:sp>
      <p:sp>
        <p:nvSpPr>
          <p:cNvPr id="10" name="!!dw:_rule.1"/>
          <p:cNvSpPr/>
          <p:nvPr/>
        </p:nvSpPr>
        <p:spPr>
          <a:xfrm>
            <a:off x="3957042" y="2156668"/>
            <a:ext cx="19050" cy="1711300"/>
          </a:xfrm>
          <a:prstGeom prst="rect">
            <a:avLst/>
          </a:prstGeom>
          <a:solidFill>
            <a:srgbClr val="DDE1E5"/>
          </a:solidFill>
          <a:ln/>
        </p:spPr>
      </p:sp>
      <p:sp>
        <p:nvSpPr>
          <p:cNvPr id="11" name="!!dw:kpis.1.value"/>
          <p:cNvSpPr/>
          <p:nvPr/>
        </p:nvSpPr>
        <p:spPr>
          <a:xfrm>
            <a:off x="4223742" y="2294781"/>
            <a:ext cx="1882214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de-DE" altLang="en-US" sz="4650" b="1" spc="-139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31,4 %</a:t>
            </a:r>
            <a:endParaRPr lang="de-DE" sz="4650" dirty="0"/>
          </a:p>
        </p:txBody>
      </p:sp>
      <p:sp>
        <p:nvSpPr>
          <p:cNvPr id="12" name="!!dw:kpis.1.label"/>
          <p:cNvSpPr/>
          <p:nvPr/>
        </p:nvSpPr>
        <p:spPr>
          <a:xfrm>
            <a:off x="4223742" y="3027015"/>
            <a:ext cx="1882214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Deckungsbeitrag</a:t>
            </a:r>
            <a:endParaRPr lang="de-DE" sz="1425" dirty="0"/>
          </a:p>
        </p:txBody>
      </p:sp>
      <p:pic>
        <p:nvPicPr>
          <p:cNvPr id="13" name="!!dw:_arrow.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42" y="3667274"/>
            <a:ext cx="171450" cy="171450"/>
          </a:xfrm>
          <a:prstGeom prst="rect">
            <a:avLst/>
          </a:prstGeom>
        </p:spPr>
      </p:pic>
      <p:sp>
        <p:nvSpPr>
          <p:cNvPr id="14" name="!!dw:kpis.1.delta"/>
          <p:cNvSpPr/>
          <p:nvPr/>
        </p:nvSpPr>
        <p:spPr>
          <a:xfrm>
            <a:off x="4452342" y="3638104"/>
            <a:ext cx="700543" cy="22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de-DE" altLang="en-US" sz="1275" b="1" dirty="0">
                <a:solidFill>
                  <a:srgbClr val="1E7A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+1,2 Pkt.</a:t>
            </a:r>
            <a:endParaRPr lang="de-DE" sz="1275" dirty="0"/>
          </a:p>
        </p:txBody>
      </p:sp>
      <p:sp>
        <p:nvSpPr>
          <p:cNvPr id="15" name="!!dw:_card.2"/>
          <p:cNvSpPr/>
          <p:nvPr/>
        </p:nvSpPr>
        <p:spPr>
          <a:xfrm>
            <a:off x="6473428" y="2080468"/>
            <a:ext cx="2516386" cy="1863700"/>
          </a:xfrm>
          <a:prstGeom prst="rect">
            <a:avLst/>
          </a:prstGeom>
          <a:ln/>
        </p:spPr>
      </p:sp>
      <p:sp>
        <p:nvSpPr>
          <p:cNvPr id="16" name="!!dw:_rule.2"/>
          <p:cNvSpPr/>
          <p:nvPr/>
        </p:nvSpPr>
        <p:spPr>
          <a:xfrm>
            <a:off x="6473428" y="2156668"/>
            <a:ext cx="19050" cy="1711300"/>
          </a:xfrm>
          <a:prstGeom prst="rect">
            <a:avLst/>
          </a:prstGeom>
          <a:solidFill>
            <a:srgbClr val="DDE1E5"/>
          </a:solidFill>
          <a:ln/>
        </p:spPr>
      </p:sp>
      <p:sp>
        <p:nvSpPr>
          <p:cNvPr id="17" name="!!dw:kpis.2.value"/>
          <p:cNvSpPr/>
          <p:nvPr/>
        </p:nvSpPr>
        <p:spPr>
          <a:xfrm>
            <a:off x="6740128" y="2294781"/>
            <a:ext cx="201273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de-DE" altLang="en-US" sz="4650" b="1" spc="-139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18 %</a:t>
            </a:r>
            <a:endParaRPr lang="de-DE" sz="4650" dirty="0"/>
          </a:p>
        </p:txBody>
      </p:sp>
      <p:sp>
        <p:nvSpPr>
          <p:cNvPr id="18" name="!!dw:kpis.2.label"/>
          <p:cNvSpPr/>
          <p:nvPr/>
        </p:nvSpPr>
        <p:spPr>
          <a:xfrm>
            <a:off x="6740128" y="3027015"/>
            <a:ext cx="201273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Neukundenanteil am Umsatz</a:t>
            </a:r>
            <a:endParaRPr lang="de-DE" sz="1425" dirty="0"/>
          </a:p>
        </p:txBody>
      </p:sp>
      <p:pic>
        <p:nvPicPr>
          <p:cNvPr id="19" name="!!dw:_arrow.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128" y="3667274"/>
            <a:ext cx="171450" cy="171450"/>
          </a:xfrm>
          <a:prstGeom prst="rect">
            <a:avLst/>
          </a:prstGeom>
        </p:spPr>
      </p:pic>
      <p:sp>
        <p:nvSpPr>
          <p:cNvPr id="20" name="!!dw:kpis.2.delta"/>
          <p:cNvSpPr/>
          <p:nvPr/>
        </p:nvSpPr>
        <p:spPr>
          <a:xfrm>
            <a:off x="6968728" y="3638104"/>
            <a:ext cx="1198212" cy="22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de-DE" altLang="en-US" sz="1275" b="1" dirty="0">
                <a:solidFill>
                  <a:srgbClr val="B832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−7 Pkt. vs. Plan</a:t>
            </a:r>
            <a:endParaRPr lang="de-DE" sz="1275" dirty="0"/>
          </a:p>
        </p:txBody>
      </p:sp>
      <p:sp>
        <p:nvSpPr>
          <p:cNvPr id="21" name="!!dw:_card.3"/>
          <p:cNvSpPr/>
          <p:nvPr/>
        </p:nvSpPr>
        <p:spPr>
          <a:xfrm>
            <a:off x="8989814" y="2080468"/>
            <a:ext cx="2516312" cy="1863700"/>
          </a:xfrm>
          <a:prstGeom prst="rect">
            <a:avLst/>
          </a:prstGeom>
          <a:ln/>
        </p:spPr>
      </p:sp>
      <p:sp>
        <p:nvSpPr>
          <p:cNvPr id="22" name="!!dw:_rule.3"/>
          <p:cNvSpPr/>
          <p:nvPr/>
        </p:nvSpPr>
        <p:spPr>
          <a:xfrm>
            <a:off x="8989814" y="2156668"/>
            <a:ext cx="19050" cy="1711300"/>
          </a:xfrm>
          <a:prstGeom prst="rect">
            <a:avLst/>
          </a:prstGeom>
          <a:solidFill>
            <a:srgbClr val="DDE1E5"/>
          </a:solidFill>
          <a:ln/>
        </p:spPr>
      </p:sp>
      <p:sp>
        <p:nvSpPr>
          <p:cNvPr id="23" name="!!dw:kpis.3.value"/>
          <p:cNvSpPr/>
          <p:nvPr/>
        </p:nvSpPr>
        <p:spPr>
          <a:xfrm>
            <a:off x="9256514" y="2294781"/>
            <a:ext cx="2012655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de-DE" altLang="en-US" sz="4650" b="1" spc="-139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</a:t>
            </a:r>
            <a:endParaRPr lang="de-DE" sz="4650" dirty="0"/>
          </a:p>
        </p:txBody>
      </p:sp>
      <p:sp>
        <p:nvSpPr>
          <p:cNvPr id="24" name="!!dw:kpis.3.label"/>
          <p:cNvSpPr/>
          <p:nvPr/>
        </p:nvSpPr>
        <p:spPr>
          <a:xfrm>
            <a:off x="9256514" y="3027015"/>
            <a:ext cx="2012655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offene Leads je Außendienstler</a:t>
            </a:r>
            <a:endParaRPr lang="de-DE" sz="1425" dirty="0"/>
          </a:p>
        </p:txBody>
      </p:sp>
      <p:sp>
        <p:nvSpPr>
          <p:cNvPr id="25" name="!!dw:kpis.3.delta"/>
          <p:cNvSpPr/>
          <p:nvPr/>
        </p:nvSpPr>
        <p:spPr>
          <a:xfrm>
            <a:off x="9256514" y="3638104"/>
            <a:ext cx="579242" cy="22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de-DE" altLang="en-US" sz="1275" b="1" dirty="0">
                <a:solidFill>
                  <a:srgbClr val="B832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Ziel: 35</a:t>
            </a:r>
            <a:endParaRPr lang="de-DE" sz="1275" dirty="0"/>
          </a:p>
        </p:txBody>
      </p:sp>
      <p:sp>
        <p:nvSpPr>
          <p:cNvPr id="26" name="!!dw:source"/>
          <p:cNvSpPr/>
          <p:nvPr/>
        </p:nvSpPr>
        <p:spPr>
          <a:xfrm>
            <a:off x="685800" y="6023670"/>
            <a:ext cx="1098270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CRM-Auswertung, Stand 30.09.2026</a:t>
            </a:r>
            <a:endParaRPr lang="de-DE" sz="975" dirty="0"/>
          </a:p>
        </p:txBody>
      </p:sp>
      <p:sp>
        <p:nvSpPr>
          <p:cNvPr id="27" name="!!dw:_footer.title"/>
          <p:cNvSpPr/>
          <p:nvPr/>
        </p:nvSpPr>
        <p:spPr>
          <a:xfrm>
            <a:off x="685800" y="6450360"/>
            <a:ext cx="115213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Q3-Update Vertrieb</a:t>
            </a:r>
            <a:endParaRPr lang="de-DE" sz="975" dirty="0"/>
          </a:p>
        </p:txBody>
      </p:sp>
      <p:sp>
        <p:nvSpPr>
          <p:cNvPr id="28" name="!!dw:_footer.page"/>
          <p:cNvSpPr/>
          <p:nvPr/>
        </p:nvSpPr>
        <p:spPr>
          <a:xfrm>
            <a:off x="11429405" y="6450360"/>
            <a:ext cx="779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de-DE" sz="97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w:eyebrow"/>
          <p:cNvSpPr/>
          <p:nvPr/>
        </p:nvSpPr>
        <p:spPr>
          <a:xfrm>
            <a:off x="685800" y="571500"/>
            <a:ext cx="8072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Entwicklung</a:t>
            </a:r>
            <a:endParaRPr lang="de-DE" sz="1050" dirty="0"/>
          </a:p>
        </p:txBody>
      </p:sp>
      <p:sp>
        <p:nvSpPr>
          <p:cNvPr id="3" name="!!dw:title"/>
          <p:cNvSpPr/>
          <p:nvPr/>
        </p:nvSpPr>
        <p:spPr>
          <a:xfrm>
            <a:off x="685800" y="864840"/>
            <a:ext cx="9667875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 Auftragseingang wächst seit Q1</a:t>
            </a:r>
            <a:endParaRPr lang="de-DE" sz="3150" dirty="0"/>
          </a:p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jedem Quartal schneller als 2025</a:t>
            </a:r>
            <a:endParaRPr lang="de-DE" sz="3150" dirty="0"/>
          </a:p>
        </p:txBody>
      </p:sp>
      <p:sp>
        <p:nvSpPr>
          <p:cNvPr id="4" name="!!dw:_unit"/>
          <p:cNvSpPr/>
          <p:nvPr/>
        </p:nvSpPr>
        <p:spPr>
          <a:xfrm>
            <a:off x="685800" y="2167384"/>
            <a:ext cx="581357" cy="22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de-DE" altLang="en-US" sz="127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Mio €</a:t>
            </a:r>
            <a:endParaRPr lang="de-DE" sz="1275" dirty="0"/>
          </a:p>
        </p:txBody>
      </p:sp>
      <p:graphicFrame>
        <p:nvGraphicFramePr>
          <p:cNvPr id="5" name="!!dw:chart" descr=""/>
          <p:cNvGraphicFramePr/>
          <p:nvPr/>
        </p:nvGraphicFramePr>
        <p:xfrm>
          <a:off x="685800" y="2473449"/>
          <a:ext cx="7334250" cy="33787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!!dw:_take"/>
          <p:cNvSpPr/>
          <p:nvPr/>
        </p:nvSpPr>
        <p:spPr>
          <a:xfrm>
            <a:off x="8362950" y="2167384"/>
            <a:ext cx="3143250" cy="3684836"/>
          </a:xfrm>
          <a:prstGeom prst="roundRect">
            <a:avLst>
              <a:gd name="adj" fmla="val 606"/>
            </a:avLst>
          </a:prstGeom>
          <a:solidFill>
            <a:srgbClr val="E9F1EF"/>
          </a:solidFill>
          <a:ln/>
        </p:spPr>
      </p:sp>
      <p:sp>
        <p:nvSpPr>
          <p:cNvPr id="7" name="!!dw:takeaway.value"/>
          <p:cNvSpPr/>
          <p:nvPr/>
        </p:nvSpPr>
        <p:spPr>
          <a:xfrm>
            <a:off x="8667750" y="2961754"/>
            <a:ext cx="257165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de-DE" altLang="en-US" sz="5400" b="1" spc="-162" kern="0" dirty="0">
                <a:solidFill>
                  <a:srgbClr val="0A7C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+17 %</a:t>
            </a:r>
            <a:endParaRPr lang="de-DE" sz="5400" dirty="0"/>
          </a:p>
        </p:txBody>
      </p:sp>
      <p:sp>
        <p:nvSpPr>
          <p:cNvPr id="8" name="!!dw:takeaway.text"/>
          <p:cNvSpPr/>
          <p:nvPr/>
        </p:nvSpPr>
        <p:spPr>
          <a:xfrm>
            <a:off x="8667750" y="3796085"/>
            <a:ext cx="2571655" cy="1261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Auftragseingang Q3 gegenüber Vorjahresquartal – ohne zusätzliches Personal.</a:t>
            </a:r>
            <a:endParaRPr lang="de-DE" sz="1800" dirty="0"/>
          </a:p>
        </p:txBody>
      </p:sp>
      <p:sp>
        <p:nvSpPr>
          <p:cNvPr id="9" name="!!dw:source"/>
          <p:cNvSpPr/>
          <p:nvPr/>
        </p:nvSpPr>
        <p:spPr>
          <a:xfrm>
            <a:off x="685800" y="6023670"/>
            <a:ext cx="1098270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Finanzbuchhaltung, vorläufig</a:t>
            </a:r>
            <a:endParaRPr lang="de-DE" sz="975" dirty="0"/>
          </a:p>
        </p:txBody>
      </p:sp>
      <p:sp>
        <p:nvSpPr>
          <p:cNvPr id="10" name="!!dw:_footer.title"/>
          <p:cNvSpPr/>
          <p:nvPr/>
        </p:nvSpPr>
        <p:spPr>
          <a:xfrm>
            <a:off x="685800" y="6450360"/>
            <a:ext cx="115213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Q3-Update Vertrieb</a:t>
            </a:r>
            <a:endParaRPr lang="de-DE" sz="975" dirty="0"/>
          </a:p>
        </p:txBody>
      </p:sp>
      <p:sp>
        <p:nvSpPr>
          <p:cNvPr id="11" name="!!dw:_footer.page"/>
          <p:cNvSpPr/>
          <p:nvPr/>
        </p:nvSpPr>
        <p:spPr>
          <a:xfrm>
            <a:off x="11429405" y="6450360"/>
            <a:ext cx="779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de-DE" sz="97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w:eyebrow"/>
          <p:cNvSpPr/>
          <p:nvPr/>
        </p:nvSpPr>
        <p:spPr>
          <a:xfrm>
            <a:off x="685800" y="571500"/>
            <a:ext cx="7095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Bewertung</a:t>
            </a:r>
            <a:endParaRPr lang="de-DE" sz="1050" dirty="0"/>
          </a:p>
        </p:txBody>
      </p:sp>
      <p:sp>
        <p:nvSpPr>
          <p:cNvPr id="3" name="!!dw:title"/>
          <p:cNvSpPr/>
          <p:nvPr/>
        </p:nvSpPr>
        <p:spPr>
          <a:xfrm>
            <a:off x="685800" y="864840"/>
            <a:ext cx="9667875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Bestandskunden tragen das</a:t>
            </a:r>
            <a:endParaRPr lang="de-DE" sz="3150" dirty="0"/>
          </a:p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Quartal, Neukunden bleiben liegen</a:t>
            </a:r>
            <a:endParaRPr lang="de-DE" sz="3150" dirty="0"/>
          </a:p>
        </p:txBody>
      </p:sp>
      <p:sp>
        <p:nvSpPr>
          <p:cNvPr id="4" name="!!dw:_card.left"/>
          <p:cNvSpPr/>
          <p:nvPr/>
        </p:nvSpPr>
        <p:spPr>
          <a:xfrm>
            <a:off x="685800" y="2167384"/>
            <a:ext cx="5276850" cy="2363986"/>
          </a:xfrm>
          <a:prstGeom prst="roundRect">
            <a:avLst>
              <a:gd name="adj" fmla="val 806"/>
            </a:avLst>
          </a:prstGeom>
          <a:solidFill>
            <a:srgbClr val="F4F5F6"/>
          </a:solidFill>
          <a:ln/>
        </p:spPr>
      </p:sp>
      <p:sp>
        <p:nvSpPr>
          <p:cNvPr id="5" name="!!dw:left.heading"/>
          <p:cNvSpPr/>
          <p:nvPr/>
        </p:nvSpPr>
        <p:spPr>
          <a:xfrm>
            <a:off x="952500" y="2357884"/>
            <a:ext cx="4814602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1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Was gut läuft</a:t>
            </a:r>
            <a:endParaRPr lang="de-DE" sz="1950" dirty="0"/>
          </a:p>
        </p:txBody>
      </p:sp>
      <p:sp>
        <p:nvSpPr>
          <p:cNvPr id="6" name="!!dw:_pd.left.points.0"/>
          <p:cNvSpPr/>
          <p:nvPr/>
        </p:nvSpPr>
        <p:spPr>
          <a:xfrm>
            <a:off x="952500" y="2912938"/>
            <a:ext cx="76200" cy="762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/>
        </p:spPr>
      </p:sp>
      <p:sp>
        <p:nvSpPr>
          <p:cNvPr id="7" name="!!dw:left.points.0"/>
          <p:cNvSpPr/>
          <p:nvPr/>
        </p:nvSpPr>
        <p:spPr>
          <a:xfrm>
            <a:off x="1162050" y="2793355"/>
            <a:ext cx="4601909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Bestandskunden bestellen 14 % mehr</a:t>
            </a:r>
            <a:endParaRPr lang="de-DE" sz="1800" dirty="0"/>
          </a:p>
        </p:txBody>
      </p:sp>
      <p:sp>
        <p:nvSpPr>
          <p:cNvPr id="8" name="!!dw:_pd.left.points.1"/>
          <p:cNvSpPr/>
          <p:nvPr/>
        </p:nvSpPr>
        <p:spPr>
          <a:xfrm>
            <a:off x="952500" y="3323630"/>
            <a:ext cx="76200" cy="762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/>
        </p:spPr>
      </p:sp>
      <p:sp>
        <p:nvSpPr>
          <p:cNvPr id="9" name="!!dw:left.points.1"/>
          <p:cNvSpPr/>
          <p:nvPr/>
        </p:nvSpPr>
        <p:spPr>
          <a:xfrm>
            <a:off x="1162050" y="3204046"/>
            <a:ext cx="4601909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Rabattquote auf 6,1 % gesenkt</a:t>
            </a:r>
            <a:endParaRPr lang="de-DE" sz="1800" dirty="0"/>
          </a:p>
        </p:txBody>
      </p:sp>
      <p:sp>
        <p:nvSpPr>
          <p:cNvPr id="10" name="!!dw:_pd.left.points.2"/>
          <p:cNvSpPr/>
          <p:nvPr/>
        </p:nvSpPr>
        <p:spPr>
          <a:xfrm>
            <a:off x="952500" y="3734321"/>
            <a:ext cx="76200" cy="762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/>
        </p:spPr>
      </p:sp>
      <p:sp>
        <p:nvSpPr>
          <p:cNvPr id="11" name="!!dw:left.points.2"/>
          <p:cNvSpPr/>
          <p:nvPr/>
        </p:nvSpPr>
        <p:spPr>
          <a:xfrm>
            <a:off x="1162050" y="3614738"/>
            <a:ext cx="4601909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Zwei Rahmenverträge verlängert</a:t>
            </a:r>
            <a:endParaRPr lang="de-DE" sz="1800" dirty="0"/>
          </a:p>
        </p:txBody>
      </p:sp>
      <p:sp>
        <p:nvSpPr>
          <p:cNvPr id="12" name="!!dw:_pd.left.points.3"/>
          <p:cNvSpPr/>
          <p:nvPr/>
        </p:nvSpPr>
        <p:spPr>
          <a:xfrm>
            <a:off x="952500" y="4145012"/>
            <a:ext cx="76200" cy="762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/>
        </p:spPr>
      </p:sp>
      <p:sp>
        <p:nvSpPr>
          <p:cNvPr id="13" name="!!dw:left.points.3"/>
          <p:cNvSpPr/>
          <p:nvPr/>
        </p:nvSpPr>
        <p:spPr>
          <a:xfrm>
            <a:off x="1162050" y="4025429"/>
            <a:ext cx="4601909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Reklamationsquote bei 0,8 %</a:t>
            </a:r>
            <a:endParaRPr lang="de-DE" sz="1800" dirty="0"/>
          </a:p>
        </p:txBody>
      </p:sp>
      <p:sp>
        <p:nvSpPr>
          <p:cNvPr id="14" name="!!dw:_card.right"/>
          <p:cNvSpPr/>
          <p:nvPr/>
        </p:nvSpPr>
        <p:spPr>
          <a:xfrm>
            <a:off x="6229350" y="2167384"/>
            <a:ext cx="5276850" cy="2363986"/>
          </a:xfrm>
          <a:prstGeom prst="roundRect">
            <a:avLst>
              <a:gd name="adj" fmla="val 806"/>
            </a:avLst>
          </a:prstGeom>
          <a:solidFill>
            <a:srgbClr val="F4F5F6"/>
          </a:solidFill>
          <a:ln/>
        </p:spPr>
      </p:sp>
      <p:sp>
        <p:nvSpPr>
          <p:cNvPr id="15" name="!!dw:right.heading"/>
          <p:cNvSpPr/>
          <p:nvPr/>
        </p:nvSpPr>
        <p:spPr>
          <a:xfrm>
            <a:off x="6496050" y="2357884"/>
            <a:ext cx="4814602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1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Was nicht läuft</a:t>
            </a:r>
            <a:endParaRPr lang="de-DE" sz="1950" dirty="0"/>
          </a:p>
        </p:txBody>
      </p:sp>
      <p:sp>
        <p:nvSpPr>
          <p:cNvPr id="16" name="!!dw:_pd.right.points.0"/>
          <p:cNvSpPr/>
          <p:nvPr/>
        </p:nvSpPr>
        <p:spPr>
          <a:xfrm>
            <a:off x="6496050" y="2912938"/>
            <a:ext cx="76200" cy="762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/>
        </p:spPr>
      </p:sp>
      <p:sp>
        <p:nvSpPr>
          <p:cNvPr id="17" name="!!dw:right.points.0"/>
          <p:cNvSpPr/>
          <p:nvPr/>
        </p:nvSpPr>
        <p:spPr>
          <a:xfrm>
            <a:off x="6705600" y="2793355"/>
            <a:ext cx="4601909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 Neukunden-Leads älter als 30 Tage</a:t>
            </a:r>
            <a:endParaRPr lang="de-DE" sz="1800" dirty="0"/>
          </a:p>
        </p:txBody>
      </p:sp>
      <p:sp>
        <p:nvSpPr>
          <p:cNvPr id="18" name="!!dw:_pd.right.points.1"/>
          <p:cNvSpPr/>
          <p:nvPr/>
        </p:nvSpPr>
        <p:spPr>
          <a:xfrm>
            <a:off x="6496050" y="3323630"/>
            <a:ext cx="76200" cy="762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/>
        </p:spPr>
      </p:sp>
      <p:sp>
        <p:nvSpPr>
          <p:cNvPr id="19" name="!!dw:right.points.1"/>
          <p:cNvSpPr/>
          <p:nvPr/>
        </p:nvSpPr>
        <p:spPr>
          <a:xfrm>
            <a:off x="6705600" y="3204046"/>
            <a:ext cx="4601909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Angebotsdauer im Schnitt 11 Tage</a:t>
            </a:r>
            <a:endParaRPr lang="de-DE" sz="1800" dirty="0"/>
          </a:p>
        </p:txBody>
      </p:sp>
      <p:sp>
        <p:nvSpPr>
          <p:cNvPr id="20" name="!!dw:_pd.right.points.2"/>
          <p:cNvSpPr/>
          <p:nvPr/>
        </p:nvSpPr>
        <p:spPr>
          <a:xfrm>
            <a:off x="6496050" y="3734321"/>
            <a:ext cx="76200" cy="762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/>
        </p:spPr>
      </p:sp>
      <p:sp>
        <p:nvSpPr>
          <p:cNvPr id="21" name="!!dw:right.points.2"/>
          <p:cNvSpPr/>
          <p:nvPr/>
        </p:nvSpPr>
        <p:spPr>
          <a:xfrm>
            <a:off x="6705600" y="3614738"/>
            <a:ext cx="4601909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Region Süd seit Juli unbesetzt</a:t>
            </a:r>
            <a:endParaRPr lang="de-DE" sz="1800" dirty="0"/>
          </a:p>
        </p:txBody>
      </p:sp>
      <p:sp>
        <p:nvSpPr>
          <p:cNvPr id="22" name="!!dw:_pd.right.points.3"/>
          <p:cNvSpPr/>
          <p:nvPr/>
        </p:nvSpPr>
        <p:spPr>
          <a:xfrm>
            <a:off x="6496050" y="4145012"/>
            <a:ext cx="76200" cy="762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/>
        </p:spPr>
      </p:sp>
      <p:sp>
        <p:nvSpPr>
          <p:cNvPr id="23" name="!!dw:right.points.3"/>
          <p:cNvSpPr/>
          <p:nvPr/>
        </p:nvSpPr>
        <p:spPr>
          <a:xfrm>
            <a:off x="6705600" y="4025429"/>
            <a:ext cx="4601909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Messe-Leads noch nicht kontaktiert</a:t>
            </a:r>
            <a:endParaRPr lang="de-DE" sz="1800" dirty="0"/>
          </a:p>
        </p:txBody>
      </p:sp>
      <p:sp>
        <p:nvSpPr>
          <p:cNvPr id="24" name="!!dw:_footer.title"/>
          <p:cNvSpPr/>
          <p:nvPr/>
        </p:nvSpPr>
        <p:spPr>
          <a:xfrm>
            <a:off x="685800" y="6450360"/>
            <a:ext cx="115213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Q3-Update Vertrieb</a:t>
            </a:r>
            <a:endParaRPr lang="de-DE" sz="975" dirty="0"/>
          </a:p>
        </p:txBody>
      </p:sp>
      <p:sp>
        <p:nvSpPr>
          <p:cNvPr id="25" name="!!dw:_footer.page"/>
          <p:cNvSpPr/>
          <p:nvPr/>
        </p:nvSpPr>
        <p:spPr>
          <a:xfrm>
            <a:off x="11429405" y="6450360"/>
            <a:ext cx="779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de-DE" sz="97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w:eyebrow"/>
          <p:cNvSpPr/>
          <p:nvPr/>
        </p:nvSpPr>
        <p:spPr>
          <a:xfrm>
            <a:off x="685800" y="571500"/>
            <a:ext cx="13830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Entscheidungsbedarf</a:t>
            </a:r>
            <a:endParaRPr lang="de-DE" sz="1050" dirty="0"/>
          </a:p>
        </p:txBody>
      </p:sp>
      <p:sp>
        <p:nvSpPr>
          <p:cNvPr id="3" name="!!dw:title"/>
          <p:cNvSpPr/>
          <p:nvPr/>
        </p:nvSpPr>
        <p:spPr>
          <a:xfrm>
            <a:off x="685800" y="864840"/>
            <a:ext cx="9667875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Zwei Außendienststellen zahlen</a:t>
            </a:r>
            <a:endParaRPr lang="de-DE" sz="3150" dirty="0"/>
          </a:p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sich nach sieben Monaten aus</a:t>
            </a:r>
            <a:endParaRPr lang="de-DE" sz="3150" dirty="0"/>
          </a:p>
        </p:txBody>
      </p:sp>
      <p:sp>
        <p:nvSpPr>
          <p:cNvPr id="4" name="!!dw:_dot.0"/>
          <p:cNvSpPr/>
          <p:nvPr/>
        </p:nvSpPr>
        <p:spPr>
          <a:xfrm>
            <a:off x="685800" y="2316882"/>
            <a:ext cx="95250" cy="95250"/>
          </a:xfrm>
          <a:prstGeom prst="roundRect">
            <a:avLst>
              <a:gd name="adj" fmla="val 30000"/>
            </a:avLst>
          </a:prstGeom>
          <a:solidFill>
            <a:srgbClr val="0A7C66"/>
          </a:solidFill>
          <a:ln/>
        </p:spPr>
      </p:sp>
      <p:sp>
        <p:nvSpPr>
          <p:cNvPr id="5" name="!!dw:items.0.text"/>
          <p:cNvSpPr/>
          <p:nvPr/>
        </p:nvSpPr>
        <p:spPr>
          <a:xfrm>
            <a:off x="990600" y="2167384"/>
            <a:ext cx="9358503" cy="3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de-DE" altLang="en-US" sz="22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 A: Nichts tun</a:t>
            </a:r>
            <a:endParaRPr lang="de-DE" sz="2250" dirty="0"/>
          </a:p>
        </p:txBody>
      </p:sp>
      <p:sp>
        <p:nvSpPr>
          <p:cNvPr id="6" name="!!dw:items.0.sub"/>
          <p:cNvSpPr/>
          <p:nvPr/>
        </p:nvSpPr>
        <p:spPr>
          <a:xfrm>
            <a:off x="990600" y="2599804"/>
            <a:ext cx="9358503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Leads verfallen weiter, geschätzter Verlust 0,6 Mio € Auftragseingang bis Q2 2027</a:t>
            </a:r>
            <a:endParaRPr lang="de-DE" sz="1425" dirty="0"/>
          </a:p>
        </p:txBody>
      </p:sp>
      <p:sp>
        <p:nvSpPr>
          <p:cNvPr id="7" name="!!dw:_dot.1"/>
          <p:cNvSpPr/>
          <p:nvPr/>
        </p:nvSpPr>
        <p:spPr>
          <a:xfrm>
            <a:off x="685800" y="3369171"/>
            <a:ext cx="95250" cy="95250"/>
          </a:xfrm>
          <a:prstGeom prst="roundRect">
            <a:avLst>
              <a:gd name="adj" fmla="val 30000"/>
            </a:avLst>
          </a:prstGeom>
          <a:solidFill>
            <a:srgbClr val="0A7C66"/>
          </a:solidFill>
          <a:ln/>
        </p:spPr>
      </p:sp>
      <p:sp>
        <p:nvSpPr>
          <p:cNvPr id="8" name="!!dw:items.1.text"/>
          <p:cNvSpPr/>
          <p:nvPr/>
        </p:nvSpPr>
        <p:spPr>
          <a:xfrm>
            <a:off x="990600" y="3219673"/>
            <a:ext cx="9358503" cy="3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de-DE" altLang="en-US" sz="22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 B: Zwei Stellen ab 1. November (Empfehlung)</a:t>
            </a:r>
            <a:endParaRPr lang="de-DE" sz="2250" dirty="0"/>
          </a:p>
        </p:txBody>
      </p:sp>
      <p:sp>
        <p:nvSpPr>
          <p:cNvPr id="9" name="!!dw:items.1.sub"/>
          <p:cNvSpPr/>
          <p:nvPr/>
        </p:nvSpPr>
        <p:spPr>
          <a:xfrm>
            <a:off x="990600" y="3652093"/>
            <a:ext cx="9358503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Kosten 190.000 € p. a., erwarteter Zusatzumsatz 1,1 Mio € im ersten Jahr</a:t>
            </a:r>
            <a:endParaRPr lang="de-DE" sz="1425" dirty="0"/>
          </a:p>
        </p:txBody>
      </p:sp>
      <p:sp>
        <p:nvSpPr>
          <p:cNvPr id="10" name="!!dw:_dot.2"/>
          <p:cNvSpPr/>
          <p:nvPr/>
        </p:nvSpPr>
        <p:spPr>
          <a:xfrm>
            <a:off x="685800" y="4421460"/>
            <a:ext cx="95250" cy="95250"/>
          </a:xfrm>
          <a:prstGeom prst="roundRect">
            <a:avLst>
              <a:gd name="adj" fmla="val 30000"/>
            </a:avLst>
          </a:prstGeom>
          <a:solidFill>
            <a:srgbClr val="0A7C66"/>
          </a:solidFill>
          <a:ln/>
        </p:spPr>
      </p:sp>
      <p:sp>
        <p:nvSpPr>
          <p:cNvPr id="11" name="!!dw:items.2.text"/>
          <p:cNvSpPr/>
          <p:nvPr/>
        </p:nvSpPr>
        <p:spPr>
          <a:xfrm>
            <a:off x="990600" y="4271963"/>
            <a:ext cx="9358503" cy="3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de-DE" altLang="en-US" sz="22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 C: Externer Vertriebspartner</a:t>
            </a:r>
            <a:endParaRPr lang="de-DE" sz="2250" dirty="0"/>
          </a:p>
        </p:txBody>
      </p:sp>
      <p:sp>
        <p:nvSpPr>
          <p:cNvPr id="12" name="!!dw:items.2.sub"/>
          <p:cNvSpPr/>
          <p:nvPr/>
        </p:nvSpPr>
        <p:spPr>
          <a:xfrm>
            <a:off x="990600" y="4704383"/>
            <a:ext cx="9358503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Marge sinkt um 8 Punkte, Aufbau dauert bis Q2 2027</a:t>
            </a:r>
            <a:endParaRPr lang="de-DE" sz="1425" dirty="0"/>
          </a:p>
        </p:txBody>
      </p:sp>
      <p:sp>
        <p:nvSpPr>
          <p:cNvPr id="13" name="!!dw:_footer.title"/>
          <p:cNvSpPr/>
          <p:nvPr/>
        </p:nvSpPr>
        <p:spPr>
          <a:xfrm>
            <a:off x="685800" y="6450360"/>
            <a:ext cx="115213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Q3-Update Vertrieb</a:t>
            </a:r>
            <a:endParaRPr lang="de-DE" sz="975" dirty="0"/>
          </a:p>
        </p:txBody>
      </p:sp>
      <p:sp>
        <p:nvSpPr>
          <p:cNvPr id="14" name="!!dw:_footer.page"/>
          <p:cNvSpPr/>
          <p:nvPr/>
        </p:nvSpPr>
        <p:spPr>
          <a:xfrm>
            <a:off x="11429405" y="6450360"/>
            <a:ext cx="779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de-DE" sz="97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w:eyebrow"/>
          <p:cNvSpPr/>
          <p:nvPr/>
        </p:nvSpPr>
        <p:spPr>
          <a:xfrm>
            <a:off x="685800" y="571500"/>
            <a:ext cx="10808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Nächste Schritte</a:t>
            </a:r>
            <a:endParaRPr lang="de-DE" sz="1050" dirty="0"/>
          </a:p>
        </p:txBody>
      </p:sp>
      <p:sp>
        <p:nvSpPr>
          <p:cNvPr id="3" name="!!dw:title"/>
          <p:cNvSpPr/>
          <p:nvPr/>
        </p:nvSpPr>
        <p:spPr>
          <a:xfrm>
            <a:off x="685800" y="864840"/>
            <a:ext cx="9667875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Bei Freigabe heute sind beide</a:t>
            </a:r>
            <a:endParaRPr lang="de-DE" sz="3150" dirty="0"/>
          </a:p>
          <a:p>
            <a:pPr algn="l" indent="0" marL="0">
              <a:lnSpc>
                <a:spcPts val="3591"/>
              </a:lnSpc>
              <a:buNone/>
            </a:pPr>
            <a:r>
              <a:rPr lang="de-DE" altLang="en-US" sz="3150" b="1" spc="-47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Stellen zum Jahreswechsel besetzt</a:t>
            </a:r>
            <a:endParaRPr lang="de-DE" sz="3150" dirty="0"/>
          </a:p>
        </p:txBody>
      </p:sp>
      <p:sp>
        <p:nvSpPr>
          <p:cNvPr id="4" name="!!dw:_axis"/>
          <p:cNvSpPr/>
          <p:nvPr/>
        </p:nvSpPr>
        <p:spPr>
          <a:xfrm>
            <a:off x="685800" y="2234059"/>
            <a:ext cx="10820400" cy="19050"/>
          </a:xfrm>
          <a:prstGeom prst="rect">
            <a:avLst/>
          </a:prstGeom>
          <a:solidFill>
            <a:srgbClr val="DDE1E5"/>
          </a:solidFill>
          <a:ln/>
        </p:spPr>
      </p:sp>
      <p:sp>
        <p:nvSpPr>
          <p:cNvPr id="5" name="!!dw:_dot.0"/>
          <p:cNvSpPr/>
          <p:nvPr/>
        </p:nvSpPr>
        <p:spPr>
          <a:xfrm>
            <a:off x="685800" y="2167384"/>
            <a:ext cx="152400" cy="1524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6" name="!!dw:_card.0"/>
          <p:cNvSpPr/>
          <p:nvPr/>
        </p:nvSpPr>
        <p:spPr>
          <a:xfrm>
            <a:off x="685800" y="2529334"/>
            <a:ext cx="2505075" cy="1754014"/>
          </a:xfrm>
          <a:prstGeom prst="rect">
            <a:avLst/>
          </a:prstGeom>
          <a:ln/>
        </p:spPr>
      </p:sp>
      <p:sp>
        <p:nvSpPr>
          <p:cNvPr id="7" name="!!dw:items.0.date"/>
          <p:cNvSpPr/>
          <p:nvPr/>
        </p:nvSpPr>
        <p:spPr>
          <a:xfrm>
            <a:off x="685800" y="2529334"/>
            <a:ext cx="2426637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b="1" dirty="0">
                <a:solidFill>
                  <a:srgbClr val="0A7C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Okt</a:t>
            </a:r>
            <a:endParaRPr lang="de-DE" sz="1425" dirty="0"/>
          </a:p>
        </p:txBody>
      </p:sp>
      <p:sp>
        <p:nvSpPr>
          <p:cNvPr id="8" name="!!dw:items.0.title"/>
          <p:cNvSpPr/>
          <p:nvPr/>
        </p:nvSpPr>
        <p:spPr>
          <a:xfrm>
            <a:off x="685800" y="2882503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1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Ausschreibung</a:t>
            </a:r>
            <a:endParaRPr lang="de-DE" sz="1950" dirty="0"/>
          </a:p>
        </p:txBody>
      </p:sp>
      <p:sp>
        <p:nvSpPr>
          <p:cNvPr id="9" name="!!dw:items.0.desc"/>
          <p:cNvSpPr/>
          <p:nvPr/>
        </p:nvSpPr>
        <p:spPr>
          <a:xfrm>
            <a:off x="685800" y="3298924"/>
            <a:ext cx="2426637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veröffentlicht beide Stellen</a:t>
            </a:r>
            <a:endParaRPr lang="de-DE" sz="1800" dirty="0"/>
          </a:p>
        </p:txBody>
      </p:sp>
      <p:sp>
        <p:nvSpPr>
          <p:cNvPr id="10" name="!!dw:_dot.1"/>
          <p:cNvSpPr/>
          <p:nvPr/>
        </p:nvSpPr>
        <p:spPr>
          <a:xfrm>
            <a:off x="3457575" y="2167384"/>
            <a:ext cx="152400" cy="1524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1" name="!!dw:_card.1"/>
          <p:cNvSpPr/>
          <p:nvPr/>
        </p:nvSpPr>
        <p:spPr>
          <a:xfrm>
            <a:off x="3457575" y="2529334"/>
            <a:ext cx="2505075" cy="1754014"/>
          </a:xfrm>
          <a:prstGeom prst="rect">
            <a:avLst/>
          </a:prstGeom>
          <a:ln/>
        </p:spPr>
      </p:sp>
      <p:sp>
        <p:nvSpPr>
          <p:cNvPr id="12" name="!!dw:items.1.date"/>
          <p:cNvSpPr/>
          <p:nvPr/>
        </p:nvSpPr>
        <p:spPr>
          <a:xfrm>
            <a:off x="3457575" y="2529334"/>
            <a:ext cx="2426637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b="1" dirty="0">
                <a:solidFill>
                  <a:srgbClr val="0A7C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Okt</a:t>
            </a:r>
            <a:endParaRPr lang="de-DE" sz="1425" dirty="0"/>
          </a:p>
        </p:txBody>
      </p:sp>
      <p:sp>
        <p:nvSpPr>
          <p:cNvPr id="13" name="!!dw:items.1.title"/>
          <p:cNvSpPr/>
          <p:nvPr/>
        </p:nvSpPr>
        <p:spPr>
          <a:xfrm>
            <a:off x="3457575" y="2882503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1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Lead-Triage</a:t>
            </a:r>
            <a:endParaRPr lang="de-DE" sz="1950" dirty="0"/>
          </a:p>
        </p:txBody>
      </p:sp>
      <p:sp>
        <p:nvSpPr>
          <p:cNvPr id="14" name="!!dw:items.1.desc"/>
          <p:cNvSpPr/>
          <p:nvPr/>
        </p:nvSpPr>
        <p:spPr>
          <a:xfrm>
            <a:off x="3457575" y="3298924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Innendienst kontaktiert alle Messe-Leads</a:t>
            </a:r>
            <a:endParaRPr lang="de-DE" sz="1800" dirty="0"/>
          </a:p>
        </p:txBody>
      </p:sp>
      <p:sp>
        <p:nvSpPr>
          <p:cNvPr id="15" name="!!dw:_dot.2"/>
          <p:cNvSpPr/>
          <p:nvPr/>
        </p:nvSpPr>
        <p:spPr>
          <a:xfrm>
            <a:off x="6229350" y="2167384"/>
            <a:ext cx="152400" cy="1524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6" name="!!dw:_card.2"/>
          <p:cNvSpPr/>
          <p:nvPr/>
        </p:nvSpPr>
        <p:spPr>
          <a:xfrm>
            <a:off x="6229350" y="2529334"/>
            <a:ext cx="2505075" cy="1754014"/>
          </a:xfrm>
          <a:prstGeom prst="rect">
            <a:avLst/>
          </a:prstGeom>
          <a:ln/>
        </p:spPr>
      </p:sp>
      <p:sp>
        <p:nvSpPr>
          <p:cNvPr id="17" name="!!dw:items.2.date"/>
          <p:cNvSpPr/>
          <p:nvPr/>
        </p:nvSpPr>
        <p:spPr>
          <a:xfrm>
            <a:off x="6229350" y="2529334"/>
            <a:ext cx="2426637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b="1" dirty="0">
                <a:solidFill>
                  <a:srgbClr val="0A7C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</a:t>
            </a:r>
            <a:endParaRPr lang="de-DE" sz="1425" dirty="0"/>
          </a:p>
        </p:txBody>
      </p:sp>
      <p:sp>
        <p:nvSpPr>
          <p:cNvPr id="18" name="!!dw:items.2.title"/>
          <p:cNvSpPr/>
          <p:nvPr/>
        </p:nvSpPr>
        <p:spPr>
          <a:xfrm>
            <a:off x="6229350" y="2882503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1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Einstellung</a:t>
            </a:r>
            <a:endParaRPr lang="de-DE" sz="1950" dirty="0"/>
          </a:p>
        </p:txBody>
      </p:sp>
      <p:sp>
        <p:nvSpPr>
          <p:cNvPr id="19" name="!!dw:items.2.desc"/>
          <p:cNvSpPr/>
          <p:nvPr/>
        </p:nvSpPr>
        <p:spPr>
          <a:xfrm>
            <a:off x="6229350" y="3298924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Verträge unterschrieben, Onboarding-Plan steht</a:t>
            </a:r>
            <a:endParaRPr lang="de-DE" sz="1800" dirty="0"/>
          </a:p>
        </p:txBody>
      </p:sp>
      <p:sp>
        <p:nvSpPr>
          <p:cNvPr id="20" name="!!dw:_dot.3"/>
          <p:cNvSpPr/>
          <p:nvPr/>
        </p:nvSpPr>
        <p:spPr>
          <a:xfrm>
            <a:off x="9001125" y="2167384"/>
            <a:ext cx="152400" cy="152400"/>
          </a:xfrm>
          <a:prstGeom prst="ellipse">
            <a:avLst>
              <a:gd name="adj" fmla="val 50000"/>
            </a:avLst>
          </a:prstGeom>
          <a:solidFill>
            <a:srgbClr val="0A7C6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1" name="!!dw:_card.3"/>
          <p:cNvSpPr/>
          <p:nvPr/>
        </p:nvSpPr>
        <p:spPr>
          <a:xfrm>
            <a:off x="9001125" y="2529334"/>
            <a:ext cx="2505075" cy="1754014"/>
          </a:xfrm>
          <a:prstGeom prst="rect">
            <a:avLst/>
          </a:prstGeom>
          <a:ln/>
        </p:spPr>
      </p:sp>
      <p:sp>
        <p:nvSpPr>
          <p:cNvPr id="22" name="!!dw:items.3.date"/>
          <p:cNvSpPr/>
          <p:nvPr/>
        </p:nvSpPr>
        <p:spPr>
          <a:xfrm>
            <a:off x="9001125" y="2529334"/>
            <a:ext cx="2426637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b="1" dirty="0">
                <a:solidFill>
                  <a:srgbClr val="0A7C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 2027</a:t>
            </a:r>
            <a:endParaRPr lang="de-DE" sz="1425" dirty="0"/>
          </a:p>
        </p:txBody>
      </p:sp>
      <p:sp>
        <p:nvSpPr>
          <p:cNvPr id="23" name="!!dw:items.3.title"/>
          <p:cNvSpPr/>
          <p:nvPr/>
        </p:nvSpPr>
        <p:spPr>
          <a:xfrm>
            <a:off x="9001125" y="2882503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1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Region Süd</a:t>
            </a:r>
            <a:endParaRPr lang="de-DE" sz="1950" dirty="0"/>
          </a:p>
        </p:txBody>
      </p:sp>
      <p:sp>
        <p:nvSpPr>
          <p:cNvPr id="24" name="!!dw:items.3.desc"/>
          <p:cNvSpPr/>
          <p:nvPr/>
        </p:nvSpPr>
        <p:spPr>
          <a:xfrm>
            <a:off x="9001125" y="3298924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Beide Stellen produktiv, erstes Review im März</a:t>
            </a:r>
            <a:endParaRPr lang="de-DE" sz="1800" dirty="0"/>
          </a:p>
        </p:txBody>
      </p:sp>
      <p:sp>
        <p:nvSpPr>
          <p:cNvPr id="25" name="!!dw:_footer.title"/>
          <p:cNvSpPr/>
          <p:nvPr/>
        </p:nvSpPr>
        <p:spPr>
          <a:xfrm>
            <a:off x="685800" y="6450360"/>
            <a:ext cx="115213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Q3-Update Vertrieb</a:t>
            </a:r>
            <a:endParaRPr lang="de-DE" sz="975" dirty="0"/>
          </a:p>
        </p:txBody>
      </p:sp>
      <p:sp>
        <p:nvSpPr>
          <p:cNvPr id="26" name="!!dw:_footer.page"/>
          <p:cNvSpPr/>
          <p:nvPr/>
        </p:nvSpPr>
        <p:spPr>
          <a:xfrm>
            <a:off x="11429405" y="6450360"/>
            <a:ext cx="779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de-DE" sz="97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w:title"/>
          <p:cNvSpPr/>
          <p:nvPr/>
        </p:nvSpPr>
        <p:spPr>
          <a:xfrm>
            <a:off x="685800" y="1600646"/>
            <a:ext cx="9667875" cy="2301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de-DE" altLang="en-US" sz="5700" b="1" spc="-8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Bitte um Freigabe: zwei</a:t>
            </a:r>
            <a:endParaRPr lang="de-DE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de-DE" altLang="en-US" sz="5700" b="1" spc="-8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Außendienststellen</a:t>
            </a:r>
            <a:endParaRPr lang="de-DE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de-DE" altLang="en-US" sz="5700" b="1" spc="-85" kern="0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 1. November</a:t>
            </a:r>
            <a:endParaRPr lang="de-DE" sz="5700" dirty="0"/>
          </a:p>
        </p:txBody>
      </p:sp>
      <p:sp>
        <p:nvSpPr>
          <p:cNvPr id="3" name="!!dw:subtitle"/>
          <p:cNvSpPr/>
          <p:nvPr/>
        </p:nvSpPr>
        <p:spPr>
          <a:xfrm>
            <a:off x="685800" y="4131097"/>
            <a:ext cx="8314372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190.000 € pro Jahr · Amortisation nach sieben Monaten · Review im März 2027</a:t>
            </a:r>
            <a:endParaRPr lang="de-DE" sz="1800" dirty="0"/>
          </a:p>
        </p:txBody>
      </p:sp>
      <p:sp>
        <p:nvSpPr>
          <p:cNvPr id="4" name="!!dw:contact.0"/>
          <p:cNvSpPr/>
          <p:nvPr/>
        </p:nvSpPr>
        <p:spPr>
          <a:xfrm>
            <a:off x="685800" y="5933331"/>
            <a:ext cx="1311054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Leitung Vertrieb</a:t>
            </a:r>
            <a:endParaRPr lang="de-DE" sz="1425" dirty="0"/>
          </a:p>
        </p:txBody>
      </p:sp>
      <p:sp>
        <p:nvSpPr>
          <p:cNvPr id="5" name="!!dw:contact.1"/>
          <p:cNvSpPr/>
          <p:nvPr/>
        </p:nvSpPr>
        <p:spPr>
          <a:xfrm>
            <a:off x="2358479" y="5933331"/>
            <a:ext cx="1365965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Durchwahl 4711</a:t>
            </a:r>
            <a:endParaRPr lang="de-DE" sz="142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Q3-Update Vertrieb</dc:title>
  <dc:subject>PptxGenJS Presentation</dc:subject>
  <dc:creator>Deckwerk</dc:creator>
  <cp:lastModifiedBy>Deckwerk</cp:lastModifiedBy>
  <cp:revision>1</cp:revision>
  <dcterms:created xsi:type="dcterms:W3CDTF">2026-10-04T14:48:09Z</dcterms:created>
  <dcterms:modified xsi:type="dcterms:W3CDTF">2026-10-04T14:48:09Z</dcterms:modified>
</cp:coreProperties>
</file>