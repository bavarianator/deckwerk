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embeddedFontLst>
    <p:embeddedFont>
      <p:font typeface="Source Serif 4" pitchFamily="18" charset="0"/>
      <p:regular r:id="rId19"/>
      <p:bold r:id="rId20"/>
      <p:italic r:id="rId21"/>
      <p:boldItalic r:id="rId22"/>
    </p:embeddedFont>
    <p:embeddedFont>
      <p:font typeface="Source Sans 3" pitchFamily="34" charset="0"/>
      <p:regular r:id="rId23"/>
      <p:bold r:id="rId24"/>
      <p:italic r:id="rId25"/>
      <p:boldItalic r:id="rId2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79A98B86-6827-42AA-BFAC-92B574BC1DB4}">
          <p14:sldIdLst>
            <p14:sldId id="256"/>
            <p14:sldId id="257"/>
          </p14:sldIdLst>
        </p14:section>
        <p14:section name="01 Ausgangslage" id="{1C78D6B7-9AA6-4DDD-8B73-9AD19931BE42}">
          <p14:sldIdLst>
            <p14:sldId id="258"/>
            <p14:sldId id="259"/>
            <p14:sldId id="260"/>
          </p14:sldIdLst>
        </p14:section>
        <p14:section name="02 Drei Schwerpunkte" id="{03A40927-C6CE-43F2-BF6B-61B8DD668214}">
          <p14:sldIdLst>
            <p14:sldId id="261"/>
            <p14:sldId id="262"/>
          </p14:sldIdLst>
        </p14:section>
        <p14:section name="03 Weg bis 2027" id="{6DFA560F-3983-4117-9E9F-A2364EDF6E3E}">
          <p14:sldIdLst>
            <p14:sldId id="263"/>
            <p14:sldId id="264"/>
            <p14:sldId id="265"/>
            <p14:sldId id="266"/>
            <p14:sldId id="267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font" Target="fonts/font1.fntdata"/><Relationship Id="rId20" Type="http://schemas.openxmlformats.org/officeDocument/2006/relationships/font" Target="fonts/font2.fntdata"/><Relationship Id="rId21" Type="http://schemas.openxmlformats.org/officeDocument/2006/relationships/font" Target="fonts/font3.fntdata"/><Relationship Id="rId22" Type="http://schemas.openxmlformats.org/officeDocument/2006/relationships/font" Target="fonts/font4.fntdata"/><Relationship Id="rId23" Type="http://schemas.openxmlformats.org/officeDocument/2006/relationships/font" Target="fonts/font5.fntdata"/><Relationship Id="rId24" Type="http://schemas.openxmlformats.org/officeDocument/2006/relationships/font" Target="fonts/font6.fntdata"/><Relationship Id="rId25" Type="http://schemas.openxmlformats.org/officeDocument/2006/relationships/font" Target="fonts/font7.fntdata"/><Relationship Id="rId26" Type="http://schemas.openxmlformats.org/officeDocument/2006/relationships/font" Target="fonts/font8.fntdata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Umsatzanteil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F3A8A"/>
              </a:solidFill>
              <a:ln w="25400" cap="flat">
                <a:solidFill>
                  <a:srgbClr val="FBFAF7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A3A6AD"/>
              </a:solidFill>
              <a:ln w="25400" cap="flat">
                <a:solidFill>
                  <a:srgbClr val="FBFAF7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C8CAD0"/>
              </a:solidFill>
              <a:ln w="25400" cap="flat">
                <a:solidFill>
                  <a:srgbClr val="FBFAF7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5A6B99"/>
              </a:solidFill>
              <a:ln w="25400" cap="flat">
                <a:solidFill>
                  <a:srgbClr val="FBFAF7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Service</c:v>
                </c:pt>
                <c:pt idx="1">
                  <c:v>Produkte</c:v>
                </c:pt>
                <c:pt idx="2">
                  <c:v>Projekte</c:v>
                </c:pt>
                <c:pt idx="3">
                  <c:v>Schulung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50</c:v>
                </c:pt>
                <c:pt idx="1">
                  <c:v>28</c:v>
                </c:pt>
                <c:pt idx="2">
                  <c:v>15</c:v>
                </c:pt>
                <c:pt idx="3">
                  <c:v>7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A1D24"/>
              </a:solidFill>
              <a:latin typeface="Source Sans 3"/>
              <a:cs typeface="Source Sans 3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Einstieg: Die Strategie ist das Ergebnis von drei Workshops mit allen Bereichsleitungen.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Agenda kehrt vor jedem Kapitel zurück, der aktive Punkt wandert 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Kapitel 1. Kurz halten.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Zahl stammt aus der Kundenbefragung 2026 (n = 412). Verlässlichkeit schlägt Preis deutlich.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Anteil der Dienstleistungen wächst, das Projektgeschäft schrumpft. Das prägt die Schwerpunkte.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Kapitel 2. Die drei Schwerpunkte sind das Herz der Präsentation.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Jeder Schwerpunkt hat eine verantwortliche Person aus der Bereichsleitung und ein messbares Ziel.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Kapitel 3: Wie wir vorgehen.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Vorgehen gilt für alle drei Schwerpunkte gleich. Quartalsweise Review im Führungskreis.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Beirat sieht den Fortschritt in jeder Sitzung anhand dieser vier Meilensteine.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Links, was heute beschlossen wird. Rechts, was wir dafür vom Beirat brauchen.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Abstimmung einholen, danach Ausblick auf die nächste Sitzung im Januar.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4" Type="http://schemas.openxmlformats.org/officeDocument/2006/relationships/slide" Target="slide3.xml"/><Relationship Id="rId5" Type="http://schemas.openxmlformats.org/officeDocument/2006/relationships/slide" Target="slide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5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w:eyebrow"/>
          <p:cNvSpPr/>
          <p:nvPr/>
        </p:nvSpPr>
        <p:spPr>
          <a:xfrm>
            <a:off x="685800" y="1816522"/>
            <a:ext cx="87207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de-DE" altLang="en-US" sz="1050" b="1" spc="11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Strategie 2027</a:t>
            </a:r>
            <a:endParaRPr lang="de-DE" sz="1050" dirty="0"/>
          </a:p>
        </p:txBody>
      </p:sp>
      <p:sp>
        <p:nvSpPr>
          <p:cNvPr id="3" name="dw:title"/>
          <p:cNvSpPr/>
          <p:nvPr/>
        </p:nvSpPr>
        <p:spPr>
          <a:xfrm>
            <a:off x="685800" y="2205112"/>
            <a:ext cx="9667875" cy="2292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17"/>
              </a:lnSpc>
              <a:buNone/>
            </a:pPr>
            <a:r>
              <a:rPr lang="de-DE" altLang="en-US" sz="5676" spc="-68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Wir werden bis 2027</a:t>
            </a:r>
            <a:endParaRPr lang="de-DE" sz="5676" dirty="0"/>
          </a:p>
          <a:p>
            <a:pPr algn="l" indent="0" marL="0">
              <a:lnSpc>
                <a:spcPts val="6017"/>
              </a:lnSpc>
              <a:buNone/>
            </a:pPr>
            <a:r>
              <a:rPr lang="de-DE" altLang="en-US" sz="5676" spc="-68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der verlässlichste</a:t>
            </a:r>
            <a:endParaRPr lang="de-DE" sz="5676" dirty="0"/>
          </a:p>
          <a:p>
            <a:pPr algn="l" indent="0" marL="0">
              <a:lnSpc>
                <a:spcPts val="6017"/>
              </a:lnSpc>
              <a:buNone/>
            </a:pPr>
            <a:r>
              <a:rPr lang="de-DE" altLang="en-US" sz="5676" spc="-68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Partner unserer Branche</a:t>
            </a:r>
            <a:endParaRPr lang="de-DE" sz="5676" dirty="0"/>
          </a:p>
        </p:txBody>
      </p:sp>
      <p:sp>
        <p:nvSpPr>
          <p:cNvPr id="4" name="dw:subtitle"/>
          <p:cNvSpPr/>
          <p:nvPr/>
        </p:nvSpPr>
        <p:spPr>
          <a:xfrm>
            <a:off x="685800" y="4725963"/>
            <a:ext cx="8314372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Drei Schwerpunkte, ein gemeinsamer Plan für den Führungskreis</a:t>
            </a:r>
            <a:endParaRPr lang="de-DE" sz="1800" dirty="0"/>
          </a:p>
        </p:txBody>
      </p:sp>
      <p:sp>
        <p:nvSpPr>
          <p:cNvPr id="5" name="dw:meta"/>
          <p:cNvSpPr/>
          <p:nvPr/>
        </p:nvSpPr>
        <p:spPr>
          <a:xfrm>
            <a:off x="685800" y="5933331"/>
            <a:ext cx="2495067" cy="238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Beiratssitzung · 14. Oktober 2026</a:t>
            </a:r>
            <a:endParaRPr lang="de-DE" sz="14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w:title"/>
          <p:cNvSpPr/>
          <p:nvPr/>
        </p:nvSpPr>
        <p:spPr>
          <a:xfrm>
            <a:off x="685800" y="742950"/>
            <a:ext cx="3093720" cy="556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spc="-46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Agenda</a:t>
            </a:r>
            <a:endParaRPr lang="de-DE" sz="3843" dirty="0"/>
          </a:p>
        </p:txBody>
      </p:sp>
      <p:sp>
        <p:nvSpPr>
          <p:cNvPr id="3" name="dw:_active"/>
          <p:cNvSpPr/>
          <p:nvPr/>
        </p:nvSpPr>
        <p:spPr>
          <a:xfrm>
            <a:off x="4343400" y="571500"/>
            <a:ext cx="7162800" cy="1148655"/>
          </a:xfrm>
          <a:prstGeom prst="roundRect">
            <a:avLst>
              <a:gd name="adj" fmla="val 1658"/>
            </a:avLst>
          </a:prstGeom>
          <a:solidFill>
            <a:srgbClr val="E3E6ED"/>
          </a:solidFill>
          <a:ln/>
        </p:spPr>
      </p:sp>
      <p:sp>
        <p:nvSpPr>
          <p:cNvPr id="4" name="dw:_num.0"/>
          <p:cNvSpPr/>
          <p:nvPr/>
        </p:nvSpPr>
        <p:spPr>
          <a:xfrm>
            <a:off x="4572000" y="781050"/>
            <a:ext cx="1183333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670"/>
              </a:lnSpc>
              <a:buNone/>
            </a:pPr>
            <a:r>
              <a:rPr lang="de-DE" altLang="en-US" sz="5400" spc="-162" kern="0" dirty="0">
                <a:solidFill>
                  <a:srgbClr val="1F3A8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01</a:t>
            </a:r>
            <a:endParaRPr lang="de-DE" sz="5400" dirty="0"/>
          </a:p>
        </p:txBody>
      </p:sp>
      <p:sp>
        <p:nvSpPr>
          <p:cNvPr id="5" name="dw:items.0.title">
            <a:hlinkClick r:id="rId4" action="ppaction://hlinksldjump"/>
          </p:cNvPr>
          <p:cNvSpPr/>
          <p:nvPr/>
        </p:nvSpPr>
        <p:spPr>
          <a:xfrm>
            <a:off x="6004545" y="813197"/>
            <a:ext cx="5352151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spc="-12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Ausgangslage</a:t>
            </a:r>
            <a:endParaRPr lang="de-DE" sz="1950" dirty="0"/>
          </a:p>
        </p:txBody>
      </p:sp>
      <p:sp>
        <p:nvSpPr>
          <p:cNvPr id="6" name="dw:items.0.desc"/>
          <p:cNvSpPr/>
          <p:nvPr/>
        </p:nvSpPr>
        <p:spPr>
          <a:xfrm>
            <a:off x="6004545" y="1153418"/>
            <a:ext cx="5352151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1A1D2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Wo wir stehen und was sich verändert hat</a:t>
            </a:r>
            <a:endParaRPr lang="de-DE" sz="1800" dirty="0"/>
          </a:p>
        </p:txBody>
      </p:sp>
      <p:sp>
        <p:nvSpPr>
          <p:cNvPr id="7" name="dw:_num.1"/>
          <p:cNvSpPr/>
          <p:nvPr/>
        </p:nvSpPr>
        <p:spPr>
          <a:xfrm>
            <a:off x="4572000" y="1929705"/>
            <a:ext cx="1183333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670"/>
              </a:lnSpc>
              <a:buNone/>
            </a:pPr>
            <a:r>
              <a:rPr lang="de-DE" altLang="en-US" sz="5400" spc="-162" kern="0" dirty="0">
                <a:solidFill>
                  <a:srgbClr val="1F3A8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02</a:t>
            </a:r>
            <a:endParaRPr lang="de-DE" sz="5400" dirty="0"/>
          </a:p>
        </p:txBody>
      </p:sp>
      <p:sp>
        <p:nvSpPr>
          <p:cNvPr id="8" name="dw:items.1.title">
            <a:hlinkClick r:id="rId5" action="ppaction://hlinksldjump"/>
          </p:cNvPr>
          <p:cNvSpPr/>
          <p:nvPr/>
        </p:nvSpPr>
        <p:spPr>
          <a:xfrm>
            <a:off x="6004545" y="1961852"/>
            <a:ext cx="5352151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spc="-12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Drei Schwerpunkte</a:t>
            </a:r>
            <a:endParaRPr lang="de-DE" sz="1950" dirty="0"/>
          </a:p>
        </p:txBody>
      </p:sp>
      <p:sp>
        <p:nvSpPr>
          <p:cNvPr id="9" name="dw:items.1.desc"/>
          <p:cNvSpPr/>
          <p:nvPr/>
        </p:nvSpPr>
        <p:spPr>
          <a:xfrm>
            <a:off x="6004545" y="2302073"/>
            <a:ext cx="5352151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1A1D2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Verlässlichkeit, Digitalisierung, Nachwuchs</a:t>
            </a:r>
            <a:endParaRPr lang="de-DE" sz="1800" dirty="0"/>
          </a:p>
        </p:txBody>
      </p:sp>
      <p:sp>
        <p:nvSpPr>
          <p:cNvPr id="10" name="dw:_num.2"/>
          <p:cNvSpPr/>
          <p:nvPr/>
        </p:nvSpPr>
        <p:spPr>
          <a:xfrm>
            <a:off x="4572000" y="3078361"/>
            <a:ext cx="1183333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670"/>
              </a:lnSpc>
              <a:buNone/>
            </a:pPr>
            <a:r>
              <a:rPr lang="de-DE" altLang="en-US" sz="5400" spc="-162" kern="0" dirty="0">
                <a:solidFill>
                  <a:srgbClr val="1F3A8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03</a:t>
            </a:r>
            <a:endParaRPr lang="de-DE" sz="5400" dirty="0"/>
          </a:p>
        </p:txBody>
      </p:sp>
      <p:sp>
        <p:nvSpPr>
          <p:cNvPr id="11" name="dw:items.2.title"/>
          <p:cNvSpPr/>
          <p:nvPr/>
        </p:nvSpPr>
        <p:spPr>
          <a:xfrm>
            <a:off x="6004545" y="3110508"/>
            <a:ext cx="5352151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spc="-12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Weg bis 2027</a:t>
            </a:r>
            <a:endParaRPr lang="de-DE" sz="1950" dirty="0"/>
          </a:p>
        </p:txBody>
      </p:sp>
      <p:sp>
        <p:nvSpPr>
          <p:cNvPr id="12" name="dw:items.2.desc"/>
          <p:cNvSpPr/>
          <p:nvPr/>
        </p:nvSpPr>
        <p:spPr>
          <a:xfrm>
            <a:off x="6004545" y="3450729"/>
            <a:ext cx="5352151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1A1D2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Meilensteine und Vorgehen</a:t>
            </a:r>
            <a:endParaRPr lang="de-DE" sz="1800" dirty="0"/>
          </a:p>
        </p:txBody>
      </p:sp>
      <p:sp>
        <p:nvSpPr>
          <p:cNvPr id="13" name="dw:_num.3"/>
          <p:cNvSpPr/>
          <p:nvPr/>
        </p:nvSpPr>
        <p:spPr>
          <a:xfrm>
            <a:off x="4572000" y="4227016"/>
            <a:ext cx="1183333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670"/>
              </a:lnSpc>
              <a:buNone/>
            </a:pPr>
            <a:r>
              <a:rPr lang="de-DE" altLang="en-US" sz="5400" spc="-162" kern="0" dirty="0">
                <a:solidFill>
                  <a:srgbClr val="1F3A8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04</a:t>
            </a:r>
            <a:endParaRPr lang="de-DE" sz="5400" dirty="0"/>
          </a:p>
        </p:txBody>
      </p:sp>
      <p:sp>
        <p:nvSpPr>
          <p:cNvPr id="14" name="dw:items.3.title"/>
          <p:cNvSpPr/>
          <p:nvPr/>
        </p:nvSpPr>
        <p:spPr>
          <a:xfrm>
            <a:off x="6004545" y="4259163"/>
            <a:ext cx="5352151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spc="-12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Entscheidung</a:t>
            </a:r>
            <a:endParaRPr lang="de-DE" sz="1950" dirty="0"/>
          </a:p>
        </p:txBody>
      </p:sp>
      <p:sp>
        <p:nvSpPr>
          <p:cNvPr id="15" name="dw:items.3.desc"/>
          <p:cNvSpPr/>
          <p:nvPr/>
        </p:nvSpPr>
        <p:spPr>
          <a:xfrm>
            <a:off x="6004545" y="4599384"/>
            <a:ext cx="5352151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1A1D2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Was der Beirat heute verabschiedet</a:t>
            </a:r>
            <a:endParaRPr lang="de-DE" sz="1800" dirty="0"/>
          </a:p>
        </p:txBody>
      </p:sp>
      <p:sp>
        <p:nvSpPr>
          <p:cNvPr id="16" name="dw:_footer.title"/>
          <p:cNvSpPr/>
          <p:nvPr/>
        </p:nvSpPr>
        <p:spPr>
          <a:xfrm>
            <a:off x="685800" y="6450360"/>
            <a:ext cx="77735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Strategie 2027</a:t>
            </a:r>
            <a:endParaRPr lang="de-DE" sz="975" dirty="0"/>
          </a:p>
        </p:txBody>
      </p:sp>
      <p:sp>
        <p:nvSpPr>
          <p:cNvPr id="17" name="dw:_footer.page"/>
          <p:cNvSpPr/>
          <p:nvPr/>
        </p:nvSpPr>
        <p:spPr>
          <a:xfrm>
            <a:off x="11442129" y="6450360"/>
            <a:ext cx="65032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</a:t>
            </a:r>
            <a:endParaRPr lang="de-DE" sz="975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w:number"/>
          <p:cNvSpPr/>
          <p:nvPr/>
        </p:nvSpPr>
        <p:spPr>
          <a:xfrm>
            <a:off x="685800" y="2106513"/>
            <a:ext cx="9474518" cy="936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371"/>
              </a:lnSpc>
              <a:buNone/>
            </a:pPr>
            <a:r>
              <a:rPr lang="de-DE" altLang="en-US" sz="6954" spc="-83" kern="0" dirty="0">
                <a:solidFill>
                  <a:srgbClr val="A4A5A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01</a:t>
            </a:r>
            <a:endParaRPr lang="de-DE" sz="6954" dirty="0"/>
          </a:p>
        </p:txBody>
      </p:sp>
      <p:sp>
        <p:nvSpPr>
          <p:cNvPr id="3" name="dw:title"/>
          <p:cNvSpPr/>
          <p:nvPr/>
        </p:nvSpPr>
        <p:spPr>
          <a:xfrm>
            <a:off x="685800" y="3214092"/>
            <a:ext cx="9474518" cy="936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371"/>
              </a:lnSpc>
              <a:buNone/>
            </a:pPr>
            <a:r>
              <a:rPr lang="de-DE" altLang="en-US" sz="6954" spc="-83" kern="0" dirty="0">
                <a:solidFill>
                  <a:srgbClr val="FBFAF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Ausgangslage</a:t>
            </a:r>
            <a:endParaRPr lang="de-DE" sz="6954" dirty="0"/>
          </a:p>
        </p:txBody>
      </p:sp>
      <p:sp>
        <p:nvSpPr>
          <p:cNvPr id="4" name="dw:subtitle"/>
          <p:cNvSpPr/>
          <p:nvPr/>
        </p:nvSpPr>
        <p:spPr>
          <a:xfrm>
            <a:off x="685800" y="4321671"/>
            <a:ext cx="7540943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A4A5A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Stabiles Geschäft, aber ein Markt, der sich schneller dreht als wir</a:t>
            </a:r>
            <a:endParaRPr lang="de-DE" sz="1800" dirty="0"/>
          </a:p>
        </p:txBody>
      </p:sp>
    </p:spTree>
  </p:cSld>
  <p:clrMapOvr>
    <a:masterClrMapping/>
  </p:clrMapOvr>
  <p:transition spd="fast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w:eyebrow"/>
          <p:cNvSpPr/>
          <p:nvPr/>
        </p:nvSpPr>
        <p:spPr>
          <a:xfrm>
            <a:off x="5533376" y="1462534"/>
            <a:ext cx="112517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de-DE" altLang="en-US" sz="1050" b="1" spc="11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Was Kunden sagen</a:t>
            </a:r>
            <a:endParaRPr lang="de-DE" sz="1050" dirty="0"/>
          </a:p>
        </p:txBody>
      </p:sp>
      <p:sp>
        <p:nvSpPr>
          <p:cNvPr id="3" name="dw:text"/>
          <p:cNvSpPr/>
          <p:nvPr/>
        </p:nvSpPr>
        <p:spPr>
          <a:xfrm>
            <a:off x="1068705" y="1908274"/>
            <a:ext cx="10054590" cy="2695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307"/>
              </a:lnSpc>
              <a:buNone/>
            </a:pPr>
            <a:r>
              <a:rPr lang="de-DE" altLang="en-US" sz="4575" spc="-55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Für </a:t>
            </a:r>
            <a:pPr algn="ctr" indent="0" marL="0">
              <a:lnSpc>
                <a:spcPts val="5307"/>
              </a:lnSpc>
              <a:buNone/>
            </a:pPr>
            <a:r>
              <a:rPr lang="de-DE" altLang="en-US" sz="4575" spc="-55" kern="0" dirty="0">
                <a:solidFill>
                  <a:srgbClr val="1F3A8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83 % unserer Kunden</a:t>
            </a:r>
            <a:endParaRPr lang="de-DE" sz="4575" dirty="0"/>
          </a:p>
          <a:p>
            <a:pPr algn="ctr" indent="0" marL="0">
              <a:lnSpc>
                <a:spcPts val="5307"/>
              </a:lnSpc>
              <a:buNone/>
            </a:pPr>
            <a:r>
              <a:rPr lang="de-DE" altLang="en-US" sz="4575" spc="-55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zählt Verlässlichkeit mehr als</a:t>
            </a:r>
            <a:endParaRPr lang="de-DE" sz="4575" dirty="0"/>
          </a:p>
          <a:p>
            <a:pPr algn="ctr" indent="0" marL="0">
              <a:lnSpc>
                <a:spcPts val="5307"/>
              </a:lnSpc>
              <a:buNone/>
            </a:pPr>
            <a:r>
              <a:rPr lang="de-DE" altLang="en-US" sz="4575" spc="-55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der Preis – und genau dort</a:t>
            </a:r>
            <a:endParaRPr lang="de-DE" sz="4575" dirty="0"/>
          </a:p>
          <a:p>
            <a:pPr algn="ctr" indent="0" marL="0">
              <a:lnSpc>
                <a:spcPts val="5307"/>
              </a:lnSpc>
              <a:buNone/>
            </a:pPr>
            <a:r>
              <a:rPr lang="de-DE" altLang="en-US" sz="4575" spc="-55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verlieren wir zuletzt Punkte.</a:t>
            </a:r>
            <a:endParaRPr lang="de-DE" sz="4575" dirty="0"/>
          </a:p>
        </p:txBody>
      </p:sp>
      <p:sp>
        <p:nvSpPr>
          <p:cNvPr id="4" name="dw:source"/>
          <p:cNvSpPr/>
          <p:nvPr/>
        </p:nvSpPr>
        <p:spPr>
          <a:xfrm>
            <a:off x="4259331" y="5042297"/>
            <a:ext cx="3673264" cy="238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Kundenbefragung Frühjahr 2026, 412 Antworten</a:t>
            </a:r>
            <a:endParaRPr lang="de-DE" sz="1425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w:eyebrow"/>
          <p:cNvSpPr/>
          <p:nvPr/>
        </p:nvSpPr>
        <p:spPr>
          <a:xfrm>
            <a:off x="685800" y="571500"/>
            <a:ext cx="127948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de-DE" altLang="en-US" sz="1050" b="1" spc="11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Umsatzstruktur 2026</a:t>
            </a:r>
            <a:endParaRPr lang="de-DE" sz="1050" dirty="0"/>
          </a:p>
        </p:txBody>
      </p:sp>
      <p:sp>
        <p:nvSpPr>
          <p:cNvPr id="3" name="dw:title"/>
          <p:cNvSpPr/>
          <p:nvPr/>
        </p:nvSpPr>
        <p:spPr>
          <a:xfrm>
            <a:off x="685800" y="864840"/>
            <a:ext cx="9667875" cy="111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spc="-46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Dienstleistungen machen bereits</a:t>
            </a:r>
            <a:endParaRPr lang="de-DE" sz="3843" dirty="0"/>
          </a:p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spc="-46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die Hälfte des Umsatzes aus</a:t>
            </a:r>
            <a:endParaRPr lang="de-DE" sz="3843" dirty="0"/>
          </a:p>
        </p:txBody>
      </p:sp>
      <p:sp>
        <p:nvSpPr>
          <p:cNvPr id="4" name="dw:_unit"/>
          <p:cNvSpPr/>
          <p:nvPr/>
        </p:nvSpPr>
        <p:spPr>
          <a:xfrm>
            <a:off x="685800" y="2358628"/>
            <a:ext cx="298647" cy="22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1"/>
              </a:lnSpc>
              <a:buNone/>
            </a:pPr>
            <a:r>
              <a:rPr lang="de-DE" altLang="en-US" sz="1275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 %</a:t>
            </a:r>
            <a:endParaRPr lang="de-DE" sz="1275" dirty="0"/>
          </a:p>
        </p:txBody>
      </p:sp>
      <p:graphicFrame>
        <p:nvGraphicFramePr>
          <p:cNvPr id="5" name="dw:chart" descr=""/>
          <p:cNvGraphicFramePr/>
          <p:nvPr/>
        </p:nvGraphicFramePr>
        <p:xfrm>
          <a:off x="685800" y="2664693"/>
          <a:ext cx="5905500" cy="318752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w:_take"/>
          <p:cNvSpPr/>
          <p:nvPr/>
        </p:nvSpPr>
        <p:spPr>
          <a:xfrm>
            <a:off x="8362950" y="2358628"/>
            <a:ext cx="3143250" cy="3493591"/>
          </a:xfrm>
          <a:prstGeom prst="roundRect">
            <a:avLst>
              <a:gd name="adj" fmla="val 606"/>
            </a:avLst>
          </a:prstGeom>
          <a:solidFill>
            <a:srgbClr val="E3E6ED"/>
          </a:solidFill>
          <a:ln/>
        </p:spPr>
      </p:sp>
      <p:sp>
        <p:nvSpPr>
          <p:cNvPr id="7" name="dw:takeaway.value"/>
          <p:cNvSpPr/>
          <p:nvPr/>
        </p:nvSpPr>
        <p:spPr>
          <a:xfrm>
            <a:off x="8667750" y="3057376"/>
            <a:ext cx="2571655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670"/>
              </a:lnSpc>
              <a:buNone/>
            </a:pPr>
            <a:r>
              <a:rPr lang="de-DE" altLang="en-US" sz="5400" spc="-162" kern="0" dirty="0">
                <a:solidFill>
                  <a:srgbClr val="1F3A8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50 %</a:t>
            </a:r>
            <a:endParaRPr lang="de-DE" sz="5400" dirty="0"/>
          </a:p>
        </p:txBody>
      </p:sp>
      <p:sp>
        <p:nvSpPr>
          <p:cNvPr id="8" name="dw:takeaway.text"/>
          <p:cNvSpPr/>
          <p:nvPr/>
        </p:nvSpPr>
        <p:spPr>
          <a:xfrm>
            <a:off x="8667750" y="3891707"/>
            <a:ext cx="2571655" cy="1261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1A1D2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Serviceanteil – 2023 waren es 31 %. Unsere Organisation ist noch auf Projekte ausgelegt.</a:t>
            </a:r>
            <a:endParaRPr lang="de-DE" sz="1800" dirty="0"/>
          </a:p>
        </p:txBody>
      </p:sp>
      <p:sp>
        <p:nvSpPr>
          <p:cNvPr id="9" name="dw:source"/>
          <p:cNvSpPr/>
          <p:nvPr/>
        </p:nvSpPr>
        <p:spPr>
          <a:xfrm>
            <a:off x="685800" y="6023670"/>
            <a:ext cx="10982706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Controlling, Geschäftsjahr 2025/26</a:t>
            </a:r>
            <a:endParaRPr lang="de-DE" sz="975" dirty="0"/>
          </a:p>
        </p:txBody>
      </p:sp>
      <p:sp>
        <p:nvSpPr>
          <p:cNvPr id="10" name="dw:_footer.title"/>
          <p:cNvSpPr/>
          <p:nvPr/>
        </p:nvSpPr>
        <p:spPr>
          <a:xfrm>
            <a:off x="685800" y="6450360"/>
            <a:ext cx="77735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Strategie 2027</a:t>
            </a:r>
            <a:endParaRPr lang="de-DE" sz="975" dirty="0"/>
          </a:p>
        </p:txBody>
      </p:sp>
      <p:sp>
        <p:nvSpPr>
          <p:cNvPr id="11" name="dw:_footer.page"/>
          <p:cNvSpPr/>
          <p:nvPr/>
        </p:nvSpPr>
        <p:spPr>
          <a:xfrm>
            <a:off x="11442129" y="6450360"/>
            <a:ext cx="65032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5</a:t>
            </a:r>
            <a:endParaRPr lang="de-DE" sz="975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P spid="6" grpId="0" animBg="1"/>
      <p:bldP spid="7" grpId="0" animBg="1"/>
      <p:bldP spid="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w:number"/>
          <p:cNvSpPr/>
          <p:nvPr/>
        </p:nvSpPr>
        <p:spPr>
          <a:xfrm>
            <a:off x="685800" y="2106513"/>
            <a:ext cx="9474518" cy="936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371"/>
              </a:lnSpc>
              <a:buNone/>
            </a:pPr>
            <a:r>
              <a:rPr lang="de-DE" altLang="en-US" sz="6954" spc="-83" kern="0" dirty="0">
                <a:solidFill>
                  <a:srgbClr val="A4A5A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02</a:t>
            </a:r>
            <a:endParaRPr lang="de-DE" sz="6954" dirty="0"/>
          </a:p>
        </p:txBody>
      </p:sp>
      <p:sp>
        <p:nvSpPr>
          <p:cNvPr id="3" name="dw:title"/>
          <p:cNvSpPr/>
          <p:nvPr/>
        </p:nvSpPr>
        <p:spPr>
          <a:xfrm>
            <a:off x="685800" y="3214092"/>
            <a:ext cx="9474518" cy="936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371"/>
              </a:lnSpc>
              <a:buNone/>
            </a:pPr>
            <a:r>
              <a:rPr lang="de-DE" altLang="en-US" sz="6954" spc="-83" kern="0" dirty="0">
                <a:solidFill>
                  <a:srgbClr val="FBFAF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Drei Schwerpunkte</a:t>
            </a:r>
            <a:endParaRPr lang="de-DE" sz="6954" dirty="0"/>
          </a:p>
        </p:txBody>
      </p:sp>
      <p:sp>
        <p:nvSpPr>
          <p:cNvPr id="4" name="dw:subtitle"/>
          <p:cNvSpPr/>
          <p:nvPr/>
        </p:nvSpPr>
        <p:spPr>
          <a:xfrm>
            <a:off x="685800" y="4321671"/>
            <a:ext cx="7540943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A4A5A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Verlässlichkeit, Digitalisierung, Nachwuchs</a:t>
            </a:r>
            <a:endParaRPr lang="de-DE" sz="1800" dirty="0"/>
          </a:p>
        </p:txBody>
      </p:sp>
    </p:spTree>
  </p:cSld>
  <p:clrMapOvr>
    <a:masterClrMapping/>
  </p:clrMapOvr>
  <p:transition spd="fast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w:eyebrow"/>
          <p:cNvSpPr/>
          <p:nvPr/>
        </p:nvSpPr>
        <p:spPr>
          <a:xfrm>
            <a:off x="685800" y="571500"/>
            <a:ext cx="88091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de-DE" altLang="en-US" sz="1050" b="1" spc="11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Schwerpunkte</a:t>
            </a:r>
            <a:endParaRPr lang="de-DE" sz="1050" dirty="0"/>
          </a:p>
        </p:txBody>
      </p:sp>
      <p:sp>
        <p:nvSpPr>
          <p:cNvPr id="3" name="dw:title"/>
          <p:cNvSpPr/>
          <p:nvPr/>
        </p:nvSpPr>
        <p:spPr>
          <a:xfrm>
            <a:off x="685800" y="864840"/>
            <a:ext cx="9667875" cy="111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spc="-46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Drei Schwerpunkte machen uns</a:t>
            </a:r>
            <a:endParaRPr lang="de-DE" sz="3843" dirty="0"/>
          </a:p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spc="-46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bis 2027 messbar verlässlicher</a:t>
            </a:r>
            <a:endParaRPr lang="de-DE" sz="3843" dirty="0"/>
          </a:p>
        </p:txBody>
      </p:sp>
      <p:sp>
        <p:nvSpPr>
          <p:cNvPr id="4" name="dw:_card.0"/>
          <p:cNvSpPr/>
          <p:nvPr/>
        </p:nvSpPr>
        <p:spPr>
          <a:xfrm>
            <a:off x="685800" y="2358628"/>
            <a:ext cx="3454375" cy="2619152"/>
          </a:xfrm>
          <a:prstGeom prst="roundRect">
            <a:avLst>
              <a:gd name="adj" fmla="val 727"/>
            </a:avLst>
          </a:prstGeom>
          <a:solidFill>
            <a:srgbClr val="F3F1EC"/>
          </a:solidFill>
          <a:ln/>
        </p:spPr>
      </p:sp>
      <p:sp>
        <p:nvSpPr>
          <p:cNvPr id="5" name="dw:_ib.0"/>
          <p:cNvSpPr/>
          <p:nvPr/>
        </p:nvSpPr>
        <p:spPr>
          <a:xfrm>
            <a:off x="952500" y="2663428"/>
            <a:ext cx="381000" cy="381000"/>
          </a:xfrm>
          <a:prstGeom prst="rect">
            <a:avLst/>
          </a:prstGeom>
          <a:ln/>
        </p:spPr>
      </p:sp>
      <p:pic>
        <p:nvPicPr>
          <p:cNvPr id="6" name="dw:_icon.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175" y="2730103"/>
            <a:ext cx="247650" cy="247650"/>
          </a:xfrm>
          <a:prstGeom prst="rect">
            <a:avLst/>
          </a:prstGeom>
        </p:spPr>
      </p:pic>
      <p:sp>
        <p:nvSpPr>
          <p:cNvPr id="7" name="dw:items.0.text"/>
          <p:cNvSpPr/>
          <p:nvPr/>
        </p:nvSpPr>
        <p:spPr>
          <a:xfrm>
            <a:off x="952500" y="3339703"/>
            <a:ext cx="2964790" cy="519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6"/>
              </a:lnSpc>
              <a:buNone/>
            </a:pPr>
            <a:r>
              <a:rPr lang="de-DE" altLang="en-US" sz="1650" b="1" spc="-10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Verlässlichkeit:</a:t>
            </a:r>
            <a:endParaRPr lang="de-DE" sz="1650" dirty="0"/>
          </a:p>
          <a:p>
            <a:pPr algn="l" indent="0" marL="0">
              <a:lnSpc>
                <a:spcPts val="2046"/>
              </a:lnSpc>
              <a:buNone/>
            </a:pPr>
            <a:r>
              <a:rPr lang="de-DE" altLang="en-US" sz="1650" b="1" spc="-10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Liefertreue von 91 auf 98 %</a:t>
            </a:r>
            <a:endParaRPr lang="de-DE" sz="1650" dirty="0"/>
          </a:p>
        </p:txBody>
      </p:sp>
      <p:sp>
        <p:nvSpPr>
          <p:cNvPr id="8" name="dw:items.0.sub"/>
          <p:cNvSpPr/>
          <p:nvPr/>
        </p:nvSpPr>
        <p:spPr>
          <a:xfrm>
            <a:off x="952500" y="3935462"/>
            <a:ext cx="2964790" cy="477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Servicelevel je Kunde vereinbaren und wöchentlich messen</a:t>
            </a:r>
            <a:endParaRPr lang="de-DE" sz="1425" dirty="0"/>
          </a:p>
        </p:txBody>
      </p:sp>
      <p:sp>
        <p:nvSpPr>
          <p:cNvPr id="9" name="dw:_card.1"/>
          <p:cNvSpPr/>
          <p:nvPr/>
        </p:nvSpPr>
        <p:spPr>
          <a:xfrm>
            <a:off x="4368775" y="2358628"/>
            <a:ext cx="3454375" cy="2619152"/>
          </a:xfrm>
          <a:prstGeom prst="roundRect">
            <a:avLst>
              <a:gd name="adj" fmla="val 727"/>
            </a:avLst>
          </a:prstGeom>
          <a:solidFill>
            <a:srgbClr val="F3F1EC"/>
          </a:solidFill>
          <a:ln/>
        </p:spPr>
      </p:sp>
      <p:sp>
        <p:nvSpPr>
          <p:cNvPr id="10" name="dw:_ib.1"/>
          <p:cNvSpPr/>
          <p:nvPr/>
        </p:nvSpPr>
        <p:spPr>
          <a:xfrm>
            <a:off x="4635475" y="2663428"/>
            <a:ext cx="381000" cy="381000"/>
          </a:xfrm>
          <a:prstGeom prst="rect">
            <a:avLst/>
          </a:prstGeom>
          <a:ln/>
        </p:spPr>
      </p:sp>
      <p:pic>
        <p:nvPicPr>
          <p:cNvPr id="11" name="dw:_icon.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2150" y="2730103"/>
            <a:ext cx="247650" cy="247650"/>
          </a:xfrm>
          <a:prstGeom prst="rect">
            <a:avLst/>
          </a:prstGeom>
        </p:spPr>
      </p:pic>
      <p:sp>
        <p:nvSpPr>
          <p:cNvPr id="12" name="dw:items.1.text"/>
          <p:cNvSpPr/>
          <p:nvPr/>
        </p:nvSpPr>
        <p:spPr>
          <a:xfrm>
            <a:off x="4635475" y="3339703"/>
            <a:ext cx="2964790" cy="779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6"/>
              </a:lnSpc>
              <a:buNone/>
            </a:pPr>
            <a:r>
              <a:rPr lang="de-DE" altLang="en-US" sz="1650" b="1" spc="-10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Digitalisierung:</a:t>
            </a:r>
            <a:endParaRPr lang="de-DE" sz="1650" dirty="0"/>
          </a:p>
          <a:p>
            <a:pPr algn="l" indent="0" marL="0">
              <a:lnSpc>
                <a:spcPts val="2046"/>
              </a:lnSpc>
              <a:buNone/>
            </a:pPr>
            <a:r>
              <a:rPr lang="de-DE" altLang="en-US" sz="1650" b="1" spc="-10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Ein Kundenportal</a:t>
            </a:r>
            <a:endParaRPr lang="de-DE" sz="1650" dirty="0"/>
          </a:p>
          <a:p>
            <a:pPr algn="l" indent="0" marL="0">
              <a:lnSpc>
                <a:spcPts val="2046"/>
              </a:lnSpc>
              <a:buNone/>
            </a:pPr>
            <a:r>
              <a:rPr lang="de-DE" altLang="en-US" sz="1650" b="1" spc="-10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statt vier Kanälen</a:t>
            </a:r>
            <a:endParaRPr lang="de-DE" sz="1650" dirty="0"/>
          </a:p>
        </p:txBody>
      </p:sp>
      <p:sp>
        <p:nvSpPr>
          <p:cNvPr id="13" name="dw:items.1.sub"/>
          <p:cNvSpPr/>
          <p:nvPr/>
        </p:nvSpPr>
        <p:spPr>
          <a:xfrm>
            <a:off x="4635475" y="4195242"/>
            <a:ext cx="2964790" cy="477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Aufträge, Status und Rechnungen an einem Ort</a:t>
            </a:r>
            <a:endParaRPr lang="de-DE" sz="1425" dirty="0"/>
          </a:p>
        </p:txBody>
      </p:sp>
      <p:sp>
        <p:nvSpPr>
          <p:cNvPr id="14" name="dw:_card.2"/>
          <p:cNvSpPr/>
          <p:nvPr/>
        </p:nvSpPr>
        <p:spPr>
          <a:xfrm>
            <a:off x="8051750" y="2358628"/>
            <a:ext cx="3454375" cy="2619152"/>
          </a:xfrm>
          <a:prstGeom prst="roundRect">
            <a:avLst>
              <a:gd name="adj" fmla="val 727"/>
            </a:avLst>
          </a:prstGeom>
          <a:solidFill>
            <a:srgbClr val="F3F1EC"/>
          </a:solidFill>
          <a:ln/>
        </p:spPr>
      </p:sp>
      <p:sp>
        <p:nvSpPr>
          <p:cNvPr id="15" name="dw:_ib.2"/>
          <p:cNvSpPr/>
          <p:nvPr/>
        </p:nvSpPr>
        <p:spPr>
          <a:xfrm>
            <a:off x="8318450" y="2663428"/>
            <a:ext cx="381000" cy="381000"/>
          </a:xfrm>
          <a:prstGeom prst="rect">
            <a:avLst/>
          </a:prstGeom>
          <a:ln/>
        </p:spPr>
      </p:sp>
      <p:pic>
        <p:nvPicPr>
          <p:cNvPr id="16" name="dw:_icon.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5125" y="2730103"/>
            <a:ext cx="247650" cy="247650"/>
          </a:xfrm>
          <a:prstGeom prst="rect">
            <a:avLst/>
          </a:prstGeom>
        </p:spPr>
      </p:pic>
      <p:sp>
        <p:nvSpPr>
          <p:cNvPr id="17" name="dw:items.2.text"/>
          <p:cNvSpPr/>
          <p:nvPr/>
        </p:nvSpPr>
        <p:spPr>
          <a:xfrm>
            <a:off x="8318450" y="3339703"/>
            <a:ext cx="2964790" cy="519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6"/>
              </a:lnSpc>
              <a:buNone/>
            </a:pPr>
            <a:r>
              <a:rPr lang="de-DE" altLang="en-US" sz="1650" b="1" spc="-10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Nachwuchs: 20</a:t>
            </a:r>
            <a:endParaRPr lang="de-DE" sz="1650" dirty="0"/>
          </a:p>
          <a:p>
            <a:pPr algn="l" indent="0" marL="0">
              <a:lnSpc>
                <a:spcPts val="2046"/>
              </a:lnSpc>
              <a:buNone/>
            </a:pPr>
            <a:r>
              <a:rPr lang="de-DE" altLang="en-US" sz="1650" b="1" spc="-10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Ausbildungsplätze pro Jahr</a:t>
            </a:r>
            <a:endParaRPr lang="de-DE" sz="1650" dirty="0"/>
          </a:p>
        </p:txBody>
      </p:sp>
      <p:sp>
        <p:nvSpPr>
          <p:cNvPr id="18" name="dw:items.2.sub"/>
          <p:cNvSpPr/>
          <p:nvPr/>
        </p:nvSpPr>
        <p:spPr>
          <a:xfrm>
            <a:off x="8318450" y="3935462"/>
            <a:ext cx="2964790" cy="477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Eigene Akademie mit zwei Partnerschulen</a:t>
            </a:r>
            <a:endParaRPr lang="de-DE" sz="1425" dirty="0"/>
          </a:p>
        </p:txBody>
      </p:sp>
      <p:sp>
        <p:nvSpPr>
          <p:cNvPr id="19" name="dw:_footer.title"/>
          <p:cNvSpPr/>
          <p:nvPr/>
        </p:nvSpPr>
        <p:spPr>
          <a:xfrm>
            <a:off x="685800" y="6450360"/>
            <a:ext cx="77735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Strategie 2027</a:t>
            </a:r>
            <a:endParaRPr lang="de-DE" sz="975" dirty="0"/>
          </a:p>
        </p:txBody>
      </p:sp>
      <p:sp>
        <p:nvSpPr>
          <p:cNvPr id="20" name="dw:_footer.page"/>
          <p:cNvSpPr/>
          <p:nvPr/>
        </p:nvSpPr>
        <p:spPr>
          <a:xfrm>
            <a:off x="11442129" y="6450360"/>
            <a:ext cx="65032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7</a:t>
            </a:r>
            <a:endParaRPr lang="de-DE" sz="975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w:number"/>
          <p:cNvSpPr/>
          <p:nvPr/>
        </p:nvSpPr>
        <p:spPr>
          <a:xfrm>
            <a:off x="685800" y="2106513"/>
            <a:ext cx="9474518" cy="936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371"/>
              </a:lnSpc>
              <a:buNone/>
            </a:pPr>
            <a:r>
              <a:rPr lang="de-DE" altLang="en-US" sz="6954" spc="-83" kern="0" dirty="0">
                <a:solidFill>
                  <a:srgbClr val="A4A5A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03</a:t>
            </a:r>
            <a:endParaRPr lang="de-DE" sz="6954" dirty="0"/>
          </a:p>
        </p:txBody>
      </p:sp>
      <p:sp>
        <p:nvSpPr>
          <p:cNvPr id="3" name="dw:title"/>
          <p:cNvSpPr/>
          <p:nvPr/>
        </p:nvSpPr>
        <p:spPr>
          <a:xfrm>
            <a:off x="685800" y="3214092"/>
            <a:ext cx="9474518" cy="936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371"/>
              </a:lnSpc>
              <a:buNone/>
            </a:pPr>
            <a:r>
              <a:rPr lang="de-DE" altLang="en-US" sz="6954" spc="-83" kern="0" dirty="0">
                <a:solidFill>
                  <a:srgbClr val="FBFAF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Weg bis 2027</a:t>
            </a:r>
            <a:endParaRPr lang="de-DE" sz="6954" dirty="0"/>
          </a:p>
        </p:txBody>
      </p:sp>
      <p:sp>
        <p:nvSpPr>
          <p:cNvPr id="4" name="dw:subtitle"/>
          <p:cNvSpPr/>
          <p:nvPr/>
        </p:nvSpPr>
        <p:spPr>
          <a:xfrm>
            <a:off x="685800" y="4321671"/>
            <a:ext cx="7540943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A4A5A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Vier Meilensteine, ein Vorgehen in vier Schritten</a:t>
            </a:r>
            <a:endParaRPr lang="de-DE" sz="1800" dirty="0"/>
          </a:p>
        </p:txBody>
      </p:sp>
    </p:spTree>
  </p:cSld>
  <p:clrMapOvr>
    <a:masterClrMapping/>
  </p:clrMapOvr>
  <p:transition spd="fast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w:eyebrow"/>
          <p:cNvSpPr/>
          <p:nvPr/>
        </p:nvSpPr>
        <p:spPr>
          <a:xfrm>
            <a:off x="685800" y="571500"/>
            <a:ext cx="57591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de-DE" altLang="en-US" sz="1050" b="1" spc="11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Vorgehen</a:t>
            </a:r>
            <a:endParaRPr lang="de-DE" sz="1050" dirty="0"/>
          </a:p>
        </p:txBody>
      </p:sp>
      <p:sp>
        <p:nvSpPr>
          <p:cNvPr id="3" name="dw:title"/>
          <p:cNvSpPr/>
          <p:nvPr/>
        </p:nvSpPr>
        <p:spPr>
          <a:xfrm>
            <a:off x="685800" y="864840"/>
            <a:ext cx="9667875" cy="111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spc="-46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Jeder Schwerpunkt durchläuft</a:t>
            </a:r>
            <a:endParaRPr lang="de-DE" sz="3843" dirty="0"/>
          </a:p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spc="-46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dieselben vier Schritte</a:t>
            </a:r>
            <a:endParaRPr lang="de-DE" sz="3843" dirty="0"/>
          </a:p>
        </p:txBody>
      </p:sp>
      <p:sp>
        <p:nvSpPr>
          <p:cNvPr id="4" name="dw:_card.0"/>
          <p:cNvSpPr/>
          <p:nvPr/>
        </p:nvSpPr>
        <p:spPr>
          <a:xfrm>
            <a:off x="685800" y="2358628"/>
            <a:ext cx="2419350" cy="2478286"/>
          </a:xfrm>
          <a:prstGeom prst="rect">
            <a:avLst/>
          </a:prstGeom>
          <a:ln/>
        </p:spPr>
      </p:sp>
      <p:sp>
        <p:nvSpPr>
          <p:cNvPr id="5" name="dw:_badge.0"/>
          <p:cNvSpPr/>
          <p:nvPr/>
        </p:nvSpPr>
        <p:spPr>
          <a:xfrm>
            <a:off x="685800" y="2668191"/>
            <a:ext cx="95622" cy="180975"/>
          </a:xfrm>
          <a:prstGeom prst="ellipse">
            <a:avLst/>
          </a:prstGeom>
          <a:ln/>
        </p:spPr>
      </p:sp>
      <p:sp>
        <p:nvSpPr>
          <p:cNvPr id="6" name="dw:_n.0"/>
          <p:cNvSpPr/>
          <p:nvPr/>
        </p:nvSpPr>
        <p:spPr>
          <a:xfrm>
            <a:off x="685800" y="2668191"/>
            <a:ext cx="9705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5"/>
              </a:lnSpc>
              <a:buNone/>
            </a:pPr>
            <a:r>
              <a:rPr lang="de-DE" altLang="en-US" sz="1425" b="1" dirty="0">
                <a:solidFill>
                  <a:srgbClr val="1F3A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</a:t>
            </a:r>
            <a:endParaRPr lang="de-DE" sz="1425" dirty="0"/>
          </a:p>
        </p:txBody>
      </p:sp>
      <p:pic>
        <p:nvPicPr>
          <p:cNvPr id="7" name="dw:_icon.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4150" y="2625328"/>
            <a:ext cx="266700" cy="266700"/>
          </a:xfrm>
          <a:prstGeom prst="rect">
            <a:avLst/>
          </a:prstGeom>
        </p:spPr>
      </p:pic>
      <p:sp>
        <p:nvSpPr>
          <p:cNvPr id="8" name="dw:steps.0.title"/>
          <p:cNvSpPr/>
          <p:nvPr/>
        </p:nvSpPr>
        <p:spPr>
          <a:xfrm>
            <a:off x="685800" y="3101578"/>
            <a:ext cx="2339626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spc="-12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Messen</a:t>
            </a:r>
            <a:endParaRPr lang="de-DE" sz="1950" dirty="0"/>
          </a:p>
        </p:txBody>
      </p:sp>
      <p:sp>
        <p:nvSpPr>
          <p:cNvPr id="9" name="dw:steps.0.desc"/>
          <p:cNvSpPr/>
          <p:nvPr/>
        </p:nvSpPr>
        <p:spPr>
          <a:xfrm>
            <a:off x="685800" y="3537049"/>
            <a:ext cx="2339626" cy="94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Ausgangswert und Ziel je Schwerpunkt festlegen</a:t>
            </a:r>
            <a:endParaRPr lang="de-DE" sz="1800" dirty="0"/>
          </a:p>
        </p:txBody>
      </p:sp>
      <p:pic>
        <p:nvPicPr>
          <p:cNvPr id="10" name="dw:_arrow.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1825" y="3473946"/>
            <a:ext cx="247650" cy="247650"/>
          </a:xfrm>
          <a:prstGeom prst="rect">
            <a:avLst/>
          </a:prstGeom>
        </p:spPr>
      </p:pic>
      <p:sp>
        <p:nvSpPr>
          <p:cNvPr id="11" name="dw:_card.1"/>
          <p:cNvSpPr/>
          <p:nvPr/>
        </p:nvSpPr>
        <p:spPr>
          <a:xfrm>
            <a:off x="3486150" y="2358628"/>
            <a:ext cx="2419350" cy="2478286"/>
          </a:xfrm>
          <a:prstGeom prst="rect">
            <a:avLst/>
          </a:prstGeom>
          <a:ln/>
        </p:spPr>
      </p:sp>
      <p:sp>
        <p:nvSpPr>
          <p:cNvPr id="12" name="dw:_badge.1"/>
          <p:cNvSpPr/>
          <p:nvPr/>
        </p:nvSpPr>
        <p:spPr>
          <a:xfrm>
            <a:off x="3486150" y="2668191"/>
            <a:ext cx="95622" cy="180975"/>
          </a:xfrm>
          <a:prstGeom prst="ellipse">
            <a:avLst/>
          </a:prstGeom>
          <a:ln/>
        </p:spPr>
      </p:sp>
      <p:sp>
        <p:nvSpPr>
          <p:cNvPr id="13" name="dw:_n.1"/>
          <p:cNvSpPr/>
          <p:nvPr/>
        </p:nvSpPr>
        <p:spPr>
          <a:xfrm>
            <a:off x="3486150" y="2668191"/>
            <a:ext cx="9705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5"/>
              </a:lnSpc>
              <a:buNone/>
            </a:pPr>
            <a:r>
              <a:rPr lang="de-DE" altLang="en-US" sz="1425" b="1" dirty="0">
                <a:solidFill>
                  <a:srgbClr val="1F3A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</a:t>
            </a:r>
            <a:endParaRPr lang="de-DE" sz="1425" dirty="0"/>
          </a:p>
        </p:txBody>
      </p:sp>
      <p:pic>
        <p:nvPicPr>
          <p:cNvPr id="14" name="dw:_icon.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4500" y="2625328"/>
            <a:ext cx="266700" cy="266700"/>
          </a:xfrm>
          <a:prstGeom prst="rect">
            <a:avLst/>
          </a:prstGeom>
        </p:spPr>
      </p:pic>
      <p:sp>
        <p:nvSpPr>
          <p:cNvPr id="15" name="dw:steps.1.title"/>
          <p:cNvSpPr/>
          <p:nvPr/>
        </p:nvSpPr>
        <p:spPr>
          <a:xfrm>
            <a:off x="3486150" y="3101578"/>
            <a:ext cx="2339626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spc="-12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Pilotieren</a:t>
            </a:r>
            <a:endParaRPr lang="de-DE" sz="1950" dirty="0"/>
          </a:p>
        </p:txBody>
      </p:sp>
      <p:sp>
        <p:nvSpPr>
          <p:cNvPr id="16" name="dw:steps.1.desc"/>
          <p:cNvSpPr/>
          <p:nvPr/>
        </p:nvSpPr>
        <p:spPr>
          <a:xfrm>
            <a:off x="3486150" y="3537049"/>
            <a:ext cx="2339626" cy="94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Mit einem Bereich starten, in 90 Tagen lernen</a:t>
            </a:r>
            <a:endParaRPr lang="de-DE" sz="1800" dirty="0"/>
          </a:p>
        </p:txBody>
      </p:sp>
      <p:pic>
        <p:nvPicPr>
          <p:cNvPr id="17" name="dw:_arrow.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72175" y="3473946"/>
            <a:ext cx="247650" cy="247650"/>
          </a:xfrm>
          <a:prstGeom prst="rect">
            <a:avLst/>
          </a:prstGeom>
        </p:spPr>
      </p:pic>
      <p:sp>
        <p:nvSpPr>
          <p:cNvPr id="18" name="dw:_card.2"/>
          <p:cNvSpPr/>
          <p:nvPr/>
        </p:nvSpPr>
        <p:spPr>
          <a:xfrm>
            <a:off x="6286500" y="2358628"/>
            <a:ext cx="2419350" cy="2478286"/>
          </a:xfrm>
          <a:prstGeom prst="rect">
            <a:avLst/>
          </a:prstGeom>
          <a:ln/>
        </p:spPr>
      </p:sp>
      <p:sp>
        <p:nvSpPr>
          <p:cNvPr id="19" name="dw:_badge.2"/>
          <p:cNvSpPr/>
          <p:nvPr/>
        </p:nvSpPr>
        <p:spPr>
          <a:xfrm>
            <a:off x="6286500" y="2668191"/>
            <a:ext cx="95622" cy="180975"/>
          </a:xfrm>
          <a:prstGeom prst="ellipse">
            <a:avLst/>
          </a:prstGeom>
          <a:ln/>
        </p:spPr>
      </p:sp>
      <p:sp>
        <p:nvSpPr>
          <p:cNvPr id="20" name="dw:_n.2"/>
          <p:cNvSpPr/>
          <p:nvPr/>
        </p:nvSpPr>
        <p:spPr>
          <a:xfrm>
            <a:off x="6286500" y="2668191"/>
            <a:ext cx="9705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5"/>
              </a:lnSpc>
              <a:buNone/>
            </a:pPr>
            <a:r>
              <a:rPr lang="de-DE" altLang="en-US" sz="1425" b="1" dirty="0">
                <a:solidFill>
                  <a:srgbClr val="1F3A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3</a:t>
            </a:r>
            <a:endParaRPr lang="de-DE" sz="1425" dirty="0"/>
          </a:p>
        </p:txBody>
      </p:sp>
      <p:pic>
        <p:nvPicPr>
          <p:cNvPr id="21" name="dw:_icon.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4850" y="2625328"/>
            <a:ext cx="266700" cy="266700"/>
          </a:xfrm>
          <a:prstGeom prst="rect">
            <a:avLst/>
          </a:prstGeom>
        </p:spPr>
      </p:pic>
      <p:sp>
        <p:nvSpPr>
          <p:cNvPr id="22" name="dw:steps.2.title"/>
          <p:cNvSpPr/>
          <p:nvPr/>
        </p:nvSpPr>
        <p:spPr>
          <a:xfrm>
            <a:off x="6286500" y="3101578"/>
            <a:ext cx="2339626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spc="-12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Ausrollen</a:t>
            </a:r>
            <a:endParaRPr lang="de-DE" sz="1950" dirty="0"/>
          </a:p>
        </p:txBody>
      </p:sp>
      <p:sp>
        <p:nvSpPr>
          <p:cNvPr id="23" name="dw:steps.2.desc"/>
          <p:cNvSpPr/>
          <p:nvPr/>
        </p:nvSpPr>
        <p:spPr>
          <a:xfrm>
            <a:off x="6286500" y="3537049"/>
            <a:ext cx="2339626" cy="1261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Auf alle Bereiche übertragen, Verantwortliche benennen</a:t>
            </a:r>
            <a:endParaRPr lang="de-DE" sz="1800" dirty="0"/>
          </a:p>
        </p:txBody>
      </p:sp>
      <p:pic>
        <p:nvPicPr>
          <p:cNvPr id="24" name="dw:_arrow.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2525" y="3473946"/>
            <a:ext cx="247650" cy="247650"/>
          </a:xfrm>
          <a:prstGeom prst="rect">
            <a:avLst/>
          </a:prstGeom>
        </p:spPr>
      </p:pic>
      <p:sp>
        <p:nvSpPr>
          <p:cNvPr id="25" name="dw:_card.3"/>
          <p:cNvSpPr/>
          <p:nvPr/>
        </p:nvSpPr>
        <p:spPr>
          <a:xfrm>
            <a:off x="9086850" y="2358628"/>
            <a:ext cx="2419350" cy="2478286"/>
          </a:xfrm>
          <a:prstGeom prst="rect">
            <a:avLst/>
          </a:prstGeom>
          <a:ln/>
        </p:spPr>
      </p:sp>
      <p:sp>
        <p:nvSpPr>
          <p:cNvPr id="26" name="dw:_badge.3"/>
          <p:cNvSpPr/>
          <p:nvPr/>
        </p:nvSpPr>
        <p:spPr>
          <a:xfrm>
            <a:off x="9086850" y="2668191"/>
            <a:ext cx="95622" cy="180975"/>
          </a:xfrm>
          <a:prstGeom prst="ellipse">
            <a:avLst/>
          </a:prstGeom>
          <a:ln/>
        </p:spPr>
      </p:sp>
      <p:sp>
        <p:nvSpPr>
          <p:cNvPr id="27" name="dw:_n.3"/>
          <p:cNvSpPr/>
          <p:nvPr/>
        </p:nvSpPr>
        <p:spPr>
          <a:xfrm>
            <a:off x="9086850" y="2668191"/>
            <a:ext cx="9705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5"/>
              </a:lnSpc>
              <a:buNone/>
            </a:pPr>
            <a:r>
              <a:rPr lang="de-DE" altLang="en-US" sz="1425" b="1" dirty="0">
                <a:solidFill>
                  <a:srgbClr val="1F3A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4</a:t>
            </a:r>
            <a:endParaRPr lang="de-DE" sz="1425" dirty="0"/>
          </a:p>
        </p:txBody>
      </p:sp>
      <p:pic>
        <p:nvPicPr>
          <p:cNvPr id="28" name="dw:_icon.3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25200" y="2625328"/>
            <a:ext cx="266700" cy="266700"/>
          </a:xfrm>
          <a:prstGeom prst="rect">
            <a:avLst/>
          </a:prstGeom>
        </p:spPr>
      </p:pic>
      <p:sp>
        <p:nvSpPr>
          <p:cNvPr id="29" name="dw:steps.3.title"/>
          <p:cNvSpPr/>
          <p:nvPr/>
        </p:nvSpPr>
        <p:spPr>
          <a:xfrm>
            <a:off x="9086850" y="3101578"/>
            <a:ext cx="2339626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spc="-12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Verankern</a:t>
            </a:r>
            <a:endParaRPr lang="de-DE" sz="1950" dirty="0"/>
          </a:p>
        </p:txBody>
      </p:sp>
      <p:sp>
        <p:nvSpPr>
          <p:cNvPr id="30" name="dw:steps.3.desc"/>
          <p:cNvSpPr/>
          <p:nvPr/>
        </p:nvSpPr>
        <p:spPr>
          <a:xfrm>
            <a:off x="9086850" y="3537049"/>
            <a:ext cx="2339626" cy="94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 Zielvereinbarungen und Prozesse übernehmen</a:t>
            </a:r>
            <a:endParaRPr lang="de-DE" sz="1800" dirty="0"/>
          </a:p>
        </p:txBody>
      </p:sp>
      <p:sp>
        <p:nvSpPr>
          <p:cNvPr id="31" name="dw:_footer.title"/>
          <p:cNvSpPr/>
          <p:nvPr/>
        </p:nvSpPr>
        <p:spPr>
          <a:xfrm>
            <a:off x="685800" y="6450360"/>
            <a:ext cx="77735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Strategie 2027</a:t>
            </a:r>
            <a:endParaRPr lang="de-DE" sz="975" dirty="0"/>
          </a:p>
        </p:txBody>
      </p:sp>
      <p:sp>
        <p:nvSpPr>
          <p:cNvPr id="32" name="dw:_footer.page"/>
          <p:cNvSpPr/>
          <p:nvPr/>
        </p:nvSpPr>
        <p:spPr>
          <a:xfrm>
            <a:off x="11442129" y="6450360"/>
            <a:ext cx="65032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9</a:t>
            </a:r>
            <a:endParaRPr lang="de-DE" sz="975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9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5" grpId="0" animBg="1"/>
      <p:bldP spid="26" grpId="0" animBg="1"/>
      <p:bldP spid="27" grpId="0" animBg="1"/>
      <p:bldP spid="29" grpId="0" animBg="1"/>
      <p:bldP spid="3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w:eyebrow"/>
          <p:cNvSpPr/>
          <p:nvPr/>
        </p:nvSpPr>
        <p:spPr>
          <a:xfrm>
            <a:off x="685800" y="571500"/>
            <a:ext cx="77479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de-DE" altLang="en-US" sz="1050" b="1" spc="11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Meilensteine</a:t>
            </a:r>
            <a:endParaRPr lang="de-DE" sz="1050" dirty="0"/>
          </a:p>
        </p:txBody>
      </p:sp>
      <p:sp>
        <p:nvSpPr>
          <p:cNvPr id="3" name="dw:title"/>
          <p:cNvSpPr/>
          <p:nvPr/>
        </p:nvSpPr>
        <p:spPr>
          <a:xfrm>
            <a:off x="685800" y="864840"/>
            <a:ext cx="9667875" cy="111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spc="-46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Bis Ende 2027 sind alle drei</a:t>
            </a:r>
            <a:endParaRPr lang="de-DE" sz="3843" dirty="0"/>
          </a:p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spc="-46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Schwerpunkte im Alltag verankert</a:t>
            </a:r>
            <a:endParaRPr lang="de-DE" sz="3843" dirty="0"/>
          </a:p>
        </p:txBody>
      </p:sp>
      <p:sp>
        <p:nvSpPr>
          <p:cNvPr id="4" name="dw:_axis"/>
          <p:cNvSpPr/>
          <p:nvPr/>
        </p:nvSpPr>
        <p:spPr>
          <a:xfrm>
            <a:off x="685800" y="2425303"/>
            <a:ext cx="10820400" cy="19050"/>
          </a:xfrm>
          <a:prstGeom prst="rect">
            <a:avLst/>
          </a:prstGeom>
          <a:solidFill>
            <a:srgbClr val="E0DDD5"/>
          </a:solidFill>
          <a:ln/>
        </p:spPr>
      </p:sp>
      <p:sp>
        <p:nvSpPr>
          <p:cNvPr id="5" name="dw:_dot.0"/>
          <p:cNvSpPr/>
          <p:nvPr/>
        </p:nvSpPr>
        <p:spPr>
          <a:xfrm>
            <a:off x="685800" y="2358628"/>
            <a:ext cx="152400" cy="152400"/>
          </a:xfrm>
          <a:prstGeom prst="ellipse">
            <a:avLst>
              <a:gd name="adj" fmla="val 50000"/>
            </a:avLst>
          </a:prstGeom>
          <a:solidFill>
            <a:srgbClr val="1F3A8A"/>
          </a:solidFill>
          <a:ln w="28575">
            <a:solidFill>
              <a:srgbClr val="FBFAF7"/>
            </a:solidFill>
            <a:prstDash val="solid"/>
          </a:ln>
        </p:spPr>
      </p:sp>
      <p:sp>
        <p:nvSpPr>
          <p:cNvPr id="6" name="dw:_card.0"/>
          <p:cNvSpPr/>
          <p:nvPr/>
        </p:nvSpPr>
        <p:spPr>
          <a:xfrm>
            <a:off x="685800" y="2720578"/>
            <a:ext cx="2505075" cy="1754014"/>
          </a:xfrm>
          <a:prstGeom prst="rect">
            <a:avLst/>
          </a:prstGeom>
          <a:ln/>
        </p:spPr>
      </p:sp>
      <p:sp>
        <p:nvSpPr>
          <p:cNvPr id="7" name="dw:items.0.date"/>
          <p:cNvSpPr/>
          <p:nvPr/>
        </p:nvSpPr>
        <p:spPr>
          <a:xfrm>
            <a:off x="685800" y="2720578"/>
            <a:ext cx="2426637" cy="238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b="1" dirty="0">
                <a:solidFill>
                  <a:srgbClr val="1F3A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Q4 2026</a:t>
            </a:r>
            <a:endParaRPr lang="de-DE" sz="1425" dirty="0"/>
          </a:p>
        </p:txBody>
      </p:sp>
      <p:sp>
        <p:nvSpPr>
          <p:cNvPr id="8" name="dw:items.0.title"/>
          <p:cNvSpPr/>
          <p:nvPr/>
        </p:nvSpPr>
        <p:spPr>
          <a:xfrm>
            <a:off x="685800" y="3073747"/>
            <a:ext cx="2426637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spc="-12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Verantwortliche</a:t>
            </a:r>
            <a:endParaRPr lang="de-DE" sz="1950" dirty="0"/>
          </a:p>
        </p:txBody>
      </p:sp>
      <p:sp>
        <p:nvSpPr>
          <p:cNvPr id="9" name="dw:items.0.desc"/>
          <p:cNvSpPr/>
          <p:nvPr/>
        </p:nvSpPr>
        <p:spPr>
          <a:xfrm>
            <a:off x="685800" y="3490168"/>
            <a:ext cx="2426637" cy="94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Drei Teams stehen, Kennzahlen sind definiert</a:t>
            </a:r>
            <a:endParaRPr lang="de-DE" sz="1800" dirty="0"/>
          </a:p>
        </p:txBody>
      </p:sp>
      <p:sp>
        <p:nvSpPr>
          <p:cNvPr id="10" name="dw:_dot.1"/>
          <p:cNvSpPr/>
          <p:nvPr/>
        </p:nvSpPr>
        <p:spPr>
          <a:xfrm>
            <a:off x="3457575" y="2358628"/>
            <a:ext cx="152400" cy="152400"/>
          </a:xfrm>
          <a:prstGeom prst="ellipse">
            <a:avLst>
              <a:gd name="adj" fmla="val 50000"/>
            </a:avLst>
          </a:prstGeom>
          <a:solidFill>
            <a:srgbClr val="1F3A8A"/>
          </a:solidFill>
          <a:ln w="28575">
            <a:solidFill>
              <a:srgbClr val="FBFAF7"/>
            </a:solidFill>
            <a:prstDash val="solid"/>
          </a:ln>
        </p:spPr>
      </p:sp>
      <p:sp>
        <p:nvSpPr>
          <p:cNvPr id="11" name="dw:_card.1"/>
          <p:cNvSpPr/>
          <p:nvPr/>
        </p:nvSpPr>
        <p:spPr>
          <a:xfrm>
            <a:off x="3457575" y="2720578"/>
            <a:ext cx="2505075" cy="1754014"/>
          </a:xfrm>
          <a:prstGeom prst="rect">
            <a:avLst/>
          </a:prstGeom>
          <a:ln/>
        </p:spPr>
      </p:sp>
      <p:sp>
        <p:nvSpPr>
          <p:cNvPr id="12" name="dw:items.1.date"/>
          <p:cNvSpPr/>
          <p:nvPr/>
        </p:nvSpPr>
        <p:spPr>
          <a:xfrm>
            <a:off x="3457575" y="2720578"/>
            <a:ext cx="2426637" cy="238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b="1" dirty="0">
                <a:solidFill>
                  <a:srgbClr val="1F3A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Q1 2027</a:t>
            </a:r>
            <a:endParaRPr lang="de-DE" sz="1425" dirty="0"/>
          </a:p>
        </p:txBody>
      </p:sp>
      <p:sp>
        <p:nvSpPr>
          <p:cNvPr id="13" name="dw:items.1.title"/>
          <p:cNvSpPr/>
          <p:nvPr/>
        </p:nvSpPr>
        <p:spPr>
          <a:xfrm>
            <a:off x="3457575" y="3073747"/>
            <a:ext cx="2426637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spc="-12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Piloten laufen</a:t>
            </a:r>
            <a:endParaRPr lang="de-DE" sz="1950" dirty="0"/>
          </a:p>
        </p:txBody>
      </p:sp>
      <p:sp>
        <p:nvSpPr>
          <p:cNvPr id="14" name="dw:items.1.desc"/>
          <p:cNvSpPr/>
          <p:nvPr/>
        </p:nvSpPr>
        <p:spPr>
          <a:xfrm>
            <a:off x="3457575" y="3490168"/>
            <a:ext cx="2426637" cy="94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Portal mit 30 Kunden, Akademie mit erster Klasse</a:t>
            </a:r>
            <a:endParaRPr lang="de-DE" sz="1800" dirty="0"/>
          </a:p>
        </p:txBody>
      </p:sp>
      <p:sp>
        <p:nvSpPr>
          <p:cNvPr id="15" name="dw:_dot.2"/>
          <p:cNvSpPr/>
          <p:nvPr/>
        </p:nvSpPr>
        <p:spPr>
          <a:xfrm>
            <a:off x="6229350" y="2358628"/>
            <a:ext cx="152400" cy="152400"/>
          </a:xfrm>
          <a:prstGeom prst="ellipse">
            <a:avLst>
              <a:gd name="adj" fmla="val 50000"/>
            </a:avLst>
          </a:prstGeom>
          <a:solidFill>
            <a:srgbClr val="1F3A8A"/>
          </a:solidFill>
          <a:ln w="28575">
            <a:solidFill>
              <a:srgbClr val="FBFAF7"/>
            </a:solidFill>
            <a:prstDash val="solid"/>
          </a:ln>
        </p:spPr>
      </p:sp>
      <p:sp>
        <p:nvSpPr>
          <p:cNvPr id="16" name="dw:_card.2"/>
          <p:cNvSpPr/>
          <p:nvPr/>
        </p:nvSpPr>
        <p:spPr>
          <a:xfrm>
            <a:off x="6229350" y="2720578"/>
            <a:ext cx="2505075" cy="1754014"/>
          </a:xfrm>
          <a:prstGeom prst="rect">
            <a:avLst/>
          </a:prstGeom>
          <a:ln/>
        </p:spPr>
      </p:sp>
      <p:sp>
        <p:nvSpPr>
          <p:cNvPr id="17" name="dw:items.2.date"/>
          <p:cNvSpPr/>
          <p:nvPr/>
        </p:nvSpPr>
        <p:spPr>
          <a:xfrm>
            <a:off x="6229350" y="2720578"/>
            <a:ext cx="2426637" cy="238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b="1" dirty="0">
                <a:solidFill>
                  <a:srgbClr val="1F3A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Q3 2027</a:t>
            </a:r>
            <a:endParaRPr lang="de-DE" sz="1425" dirty="0"/>
          </a:p>
        </p:txBody>
      </p:sp>
      <p:sp>
        <p:nvSpPr>
          <p:cNvPr id="18" name="dw:items.2.title"/>
          <p:cNvSpPr/>
          <p:nvPr/>
        </p:nvSpPr>
        <p:spPr>
          <a:xfrm>
            <a:off x="6229350" y="3073747"/>
            <a:ext cx="2426637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spc="-12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Rollout</a:t>
            </a:r>
            <a:endParaRPr lang="de-DE" sz="1950" dirty="0"/>
          </a:p>
        </p:txBody>
      </p:sp>
      <p:sp>
        <p:nvSpPr>
          <p:cNvPr id="19" name="dw:items.2.desc"/>
          <p:cNvSpPr/>
          <p:nvPr/>
        </p:nvSpPr>
        <p:spPr>
          <a:xfrm>
            <a:off x="6229350" y="3490168"/>
            <a:ext cx="2426637" cy="630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Liefertreue bei 96 %, Portal für alle Kunden</a:t>
            </a:r>
            <a:endParaRPr lang="de-DE" sz="1800" dirty="0"/>
          </a:p>
        </p:txBody>
      </p:sp>
      <p:sp>
        <p:nvSpPr>
          <p:cNvPr id="20" name="dw:_dot.3"/>
          <p:cNvSpPr/>
          <p:nvPr/>
        </p:nvSpPr>
        <p:spPr>
          <a:xfrm>
            <a:off x="9001125" y="2358628"/>
            <a:ext cx="152400" cy="152400"/>
          </a:xfrm>
          <a:prstGeom prst="ellipse">
            <a:avLst>
              <a:gd name="adj" fmla="val 50000"/>
            </a:avLst>
          </a:prstGeom>
          <a:solidFill>
            <a:srgbClr val="1F3A8A"/>
          </a:solidFill>
          <a:ln w="28575">
            <a:solidFill>
              <a:srgbClr val="FBFAF7"/>
            </a:solidFill>
            <a:prstDash val="solid"/>
          </a:ln>
        </p:spPr>
      </p:sp>
      <p:sp>
        <p:nvSpPr>
          <p:cNvPr id="21" name="dw:_card.3"/>
          <p:cNvSpPr/>
          <p:nvPr/>
        </p:nvSpPr>
        <p:spPr>
          <a:xfrm>
            <a:off x="9001125" y="2720578"/>
            <a:ext cx="2505075" cy="1754014"/>
          </a:xfrm>
          <a:prstGeom prst="rect">
            <a:avLst/>
          </a:prstGeom>
          <a:ln/>
        </p:spPr>
      </p:sp>
      <p:sp>
        <p:nvSpPr>
          <p:cNvPr id="22" name="dw:items.3.date"/>
          <p:cNvSpPr/>
          <p:nvPr/>
        </p:nvSpPr>
        <p:spPr>
          <a:xfrm>
            <a:off x="9001125" y="2720578"/>
            <a:ext cx="2426637" cy="238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b="1" dirty="0">
                <a:solidFill>
                  <a:srgbClr val="1F3A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Q4 2027</a:t>
            </a:r>
            <a:endParaRPr lang="de-DE" sz="1425" dirty="0"/>
          </a:p>
        </p:txBody>
      </p:sp>
      <p:sp>
        <p:nvSpPr>
          <p:cNvPr id="23" name="dw:items.3.title"/>
          <p:cNvSpPr/>
          <p:nvPr/>
        </p:nvSpPr>
        <p:spPr>
          <a:xfrm>
            <a:off x="9001125" y="3073747"/>
            <a:ext cx="2426637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spc="-12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Verankert</a:t>
            </a:r>
            <a:endParaRPr lang="de-DE" sz="1950" dirty="0"/>
          </a:p>
        </p:txBody>
      </p:sp>
      <p:sp>
        <p:nvSpPr>
          <p:cNvPr id="24" name="dw:items.3.desc"/>
          <p:cNvSpPr/>
          <p:nvPr/>
        </p:nvSpPr>
        <p:spPr>
          <a:xfrm>
            <a:off x="9001125" y="3490168"/>
            <a:ext cx="2426637" cy="94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98 % Liefertreue, 20 Auszubildende, ein Kanal</a:t>
            </a:r>
            <a:endParaRPr lang="de-DE" sz="1800" dirty="0"/>
          </a:p>
        </p:txBody>
      </p:sp>
      <p:sp>
        <p:nvSpPr>
          <p:cNvPr id="25" name="dw:_footer.title"/>
          <p:cNvSpPr/>
          <p:nvPr/>
        </p:nvSpPr>
        <p:spPr>
          <a:xfrm>
            <a:off x="685800" y="6450360"/>
            <a:ext cx="77735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Strategie 2027</a:t>
            </a:r>
            <a:endParaRPr lang="de-DE" sz="975" dirty="0"/>
          </a:p>
        </p:txBody>
      </p:sp>
      <p:sp>
        <p:nvSpPr>
          <p:cNvPr id="26" name="dw:_footer.page"/>
          <p:cNvSpPr/>
          <p:nvPr/>
        </p:nvSpPr>
        <p:spPr>
          <a:xfrm>
            <a:off x="11378133" y="6450360"/>
            <a:ext cx="12998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10</a:t>
            </a:r>
            <a:endParaRPr lang="de-DE" sz="975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w:eyebrow"/>
          <p:cNvSpPr/>
          <p:nvPr/>
        </p:nvSpPr>
        <p:spPr>
          <a:xfrm>
            <a:off x="685800" y="571500"/>
            <a:ext cx="83053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de-DE" altLang="en-US" sz="1050" b="1" spc="11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Entscheidung</a:t>
            </a:r>
            <a:endParaRPr lang="de-DE" sz="1050" dirty="0"/>
          </a:p>
        </p:txBody>
      </p:sp>
      <p:sp>
        <p:nvSpPr>
          <p:cNvPr id="3" name="dw:title"/>
          <p:cNvSpPr/>
          <p:nvPr/>
        </p:nvSpPr>
        <p:spPr>
          <a:xfrm>
            <a:off x="685800" y="864840"/>
            <a:ext cx="9667875" cy="111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spc="-46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Der Beirat verabschiedet heute</a:t>
            </a:r>
            <a:endParaRPr lang="de-DE" sz="3843" dirty="0"/>
          </a:p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spc="-46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drei Schwerpunkte und ein Budget</a:t>
            </a:r>
            <a:endParaRPr lang="de-DE" sz="3843" dirty="0"/>
          </a:p>
        </p:txBody>
      </p:sp>
      <p:sp>
        <p:nvSpPr>
          <p:cNvPr id="4" name="dw:_card.left"/>
          <p:cNvSpPr/>
          <p:nvPr/>
        </p:nvSpPr>
        <p:spPr>
          <a:xfrm>
            <a:off x="685800" y="2358628"/>
            <a:ext cx="5276850" cy="1953295"/>
          </a:xfrm>
          <a:prstGeom prst="roundRect">
            <a:avLst>
              <a:gd name="adj" fmla="val 975"/>
            </a:avLst>
          </a:prstGeom>
          <a:solidFill>
            <a:srgbClr val="F3F1EC"/>
          </a:solidFill>
          <a:ln/>
        </p:spPr>
      </p:sp>
      <p:sp>
        <p:nvSpPr>
          <p:cNvPr id="5" name="dw:left.heading"/>
          <p:cNvSpPr/>
          <p:nvPr/>
        </p:nvSpPr>
        <p:spPr>
          <a:xfrm>
            <a:off x="952500" y="2549128"/>
            <a:ext cx="4814602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spc="-12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Zur Verabschiedung</a:t>
            </a:r>
            <a:endParaRPr lang="de-DE" sz="1950" dirty="0"/>
          </a:p>
        </p:txBody>
      </p:sp>
      <p:sp>
        <p:nvSpPr>
          <p:cNvPr id="6" name="dw:_pd.left.points.0"/>
          <p:cNvSpPr/>
          <p:nvPr/>
        </p:nvSpPr>
        <p:spPr>
          <a:xfrm>
            <a:off x="952500" y="3104183"/>
            <a:ext cx="76200" cy="76200"/>
          </a:xfrm>
          <a:prstGeom prst="ellipse">
            <a:avLst>
              <a:gd name="adj" fmla="val 50000"/>
            </a:avLst>
          </a:prstGeom>
          <a:solidFill>
            <a:srgbClr val="1F3A8A"/>
          </a:solidFill>
          <a:ln/>
        </p:spPr>
      </p:sp>
      <p:sp>
        <p:nvSpPr>
          <p:cNvPr id="7" name="dw:left.points.0"/>
          <p:cNvSpPr/>
          <p:nvPr/>
        </p:nvSpPr>
        <p:spPr>
          <a:xfrm>
            <a:off x="1162050" y="2984599"/>
            <a:ext cx="4601909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1A1D2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Drei Schwerpunkte mit Zielwerten 2027</a:t>
            </a:r>
            <a:endParaRPr lang="de-DE" sz="1800" dirty="0"/>
          </a:p>
        </p:txBody>
      </p:sp>
      <p:sp>
        <p:nvSpPr>
          <p:cNvPr id="8" name="dw:_pd.left.points.1"/>
          <p:cNvSpPr/>
          <p:nvPr/>
        </p:nvSpPr>
        <p:spPr>
          <a:xfrm>
            <a:off x="952500" y="3514874"/>
            <a:ext cx="76200" cy="76200"/>
          </a:xfrm>
          <a:prstGeom prst="ellipse">
            <a:avLst>
              <a:gd name="adj" fmla="val 50000"/>
            </a:avLst>
          </a:prstGeom>
          <a:solidFill>
            <a:srgbClr val="1F3A8A"/>
          </a:solidFill>
          <a:ln/>
        </p:spPr>
      </p:sp>
      <p:sp>
        <p:nvSpPr>
          <p:cNvPr id="9" name="dw:left.points.1"/>
          <p:cNvSpPr/>
          <p:nvPr/>
        </p:nvSpPr>
        <p:spPr>
          <a:xfrm>
            <a:off x="1162050" y="3395290"/>
            <a:ext cx="4601909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1A1D2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Verantwortliche aus der Bereichsleitung</a:t>
            </a:r>
            <a:endParaRPr lang="de-DE" sz="1800" dirty="0"/>
          </a:p>
        </p:txBody>
      </p:sp>
      <p:sp>
        <p:nvSpPr>
          <p:cNvPr id="10" name="dw:_pd.left.points.2"/>
          <p:cNvSpPr/>
          <p:nvPr/>
        </p:nvSpPr>
        <p:spPr>
          <a:xfrm>
            <a:off x="952500" y="3925565"/>
            <a:ext cx="76200" cy="76200"/>
          </a:xfrm>
          <a:prstGeom prst="ellipse">
            <a:avLst>
              <a:gd name="adj" fmla="val 50000"/>
            </a:avLst>
          </a:prstGeom>
          <a:solidFill>
            <a:srgbClr val="1F3A8A"/>
          </a:solidFill>
          <a:ln/>
        </p:spPr>
      </p:sp>
      <p:sp>
        <p:nvSpPr>
          <p:cNvPr id="11" name="dw:left.points.2"/>
          <p:cNvSpPr/>
          <p:nvPr/>
        </p:nvSpPr>
        <p:spPr>
          <a:xfrm>
            <a:off x="1162050" y="3805982"/>
            <a:ext cx="4601909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1A1D2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Quartalsweises Review im Führungskreis</a:t>
            </a:r>
            <a:endParaRPr lang="de-DE" sz="1800" dirty="0"/>
          </a:p>
        </p:txBody>
      </p:sp>
      <p:sp>
        <p:nvSpPr>
          <p:cNvPr id="12" name="dw:_card.right"/>
          <p:cNvSpPr/>
          <p:nvPr/>
        </p:nvSpPr>
        <p:spPr>
          <a:xfrm>
            <a:off x="6229350" y="2358628"/>
            <a:ext cx="5276850" cy="1953295"/>
          </a:xfrm>
          <a:prstGeom prst="roundRect">
            <a:avLst>
              <a:gd name="adj" fmla="val 975"/>
            </a:avLst>
          </a:prstGeom>
          <a:solidFill>
            <a:srgbClr val="1F3A8A"/>
          </a:solidFill>
          <a:ln/>
        </p:spPr>
      </p:sp>
      <p:sp>
        <p:nvSpPr>
          <p:cNvPr id="13" name="dw:right.heading"/>
          <p:cNvSpPr/>
          <p:nvPr/>
        </p:nvSpPr>
        <p:spPr>
          <a:xfrm>
            <a:off x="6496050" y="2549128"/>
            <a:ext cx="4814602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spc="-12" kern="0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Dafür brauchen wir</a:t>
            </a:r>
            <a:endParaRPr lang="de-DE" sz="1950" dirty="0"/>
          </a:p>
        </p:txBody>
      </p:sp>
      <p:sp>
        <p:nvSpPr>
          <p:cNvPr id="14" name="dw:right.text"/>
          <p:cNvSpPr/>
          <p:nvPr/>
        </p:nvSpPr>
        <p:spPr>
          <a:xfrm>
            <a:off x="6496050" y="2984599"/>
            <a:ext cx="4814602" cy="94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Ein Investitionsbudget von 1,4 Mio € über zwei Jahre, davon 0,9 Mio € für das Kundenportal und 0,5 Mio € für die Akademie.</a:t>
            </a:r>
            <a:endParaRPr lang="de-DE" sz="1800" dirty="0"/>
          </a:p>
        </p:txBody>
      </p:sp>
      <p:sp>
        <p:nvSpPr>
          <p:cNvPr id="15" name="dw:_footer.title"/>
          <p:cNvSpPr/>
          <p:nvPr/>
        </p:nvSpPr>
        <p:spPr>
          <a:xfrm>
            <a:off x="685800" y="6450360"/>
            <a:ext cx="77735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Strategie 2027</a:t>
            </a:r>
            <a:endParaRPr lang="de-DE" sz="975" dirty="0"/>
          </a:p>
        </p:txBody>
      </p:sp>
      <p:sp>
        <p:nvSpPr>
          <p:cNvPr id="16" name="dw:_footer.page"/>
          <p:cNvSpPr/>
          <p:nvPr/>
        </p:nvSpPr>
        <p:spPr>
          <a:xfrm>
            <a:off x="11378133" y="6450360"/>
            <a:ext cx="12998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11</a:t>
            </a:r>
            <a:endParaRPr lang="de-DE" sz="975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w:title"/>
          <p:cNvSpPr/>
          <p:nvPr/>
        </p:nvSpPr>
        <p:spPr>
          <a:xfrm>
            <a:off x="685800" y="1505099"/>
            <a:ext cx="9667875" cy="28083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371"/>
              </a:lnSpc>
              <a:buNone/>
            </a:pPr>
            <a:r>
              <a:rPr lang="de-DE" altLang="en-US" sz="6954" spc="-83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Bitte um</a:t>
            </a:r>
            <a:endParaRPr lang="de-DE" sz="6954" dirty="0"/>
          </a:p>
          <a:p>
            <a:pPr algn="l" indent="0" marL="0">
              <a:lnSpc>
                <a:spcPts val="7371"/>
              </a:lnSpc>
              <a:buNone/>
            </a:pPr>
            <a:r>
              <a:rPr lang="de-DE" altLang="en-US" sz="6954" spc="-83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Verabschiedung</a:t>
            </a:r>
            <a:endParaRPr lang="de-DE" sz="6954" dirty="0"/>
          </a:p>
          <a:p>
            <a:pPr algn="l" indent="0" marL="0">
              <a:lnSpc>
                <a:spcPts val="7371"/>
              </a:lnSpc>
              <a:buNone/>
            </a:pPr>
            <a:r>
              <a:rPr lang="de-DE" altLang="en-US" sz="6954" spc="-83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der Strategie 2027</a:t>
            </a:r>
            <a:endParaRPr lang="de-DE" sz="6954" dirty="0"/>
          </a:p>
        </p:txBody>
      </p:sp>
      <p:sp>
        <p:nvSpPr>
          <p:cNvPr id="3" name="dw:subtitle"/>
          <p:cNvSpPr/>
          <p:nvPr/>
        </p:nvSpPr>
        <p:spPr>
          <a:xfrm>
            <a:off x="685800" y="4542086"/>
            <a:ext cx="8314372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Drei Schwerpunkte · 1,4 Mio € über zwei Jahre · erstes Review im Januar 2027</a:t>
            </a:r>
            <a:endParaRPr lang="de-DE" sz="1800" dirty="0"/>
          </a:p>
        </p:txBody>
      </p:sp>
      <p:sp>
        <p:nvSpPr>
          <p:cNvPr id="4" name="dw:contact.0"/>
          <p:cNvSpPr/>
          <p:nvPr/>
        </p:nvSpPr>
        <p:spPr>
          <a:xfrm>
            <a:off x="685800" y="5933331"/>
            <a:ext cx="1352218" cy="238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Geschäftsführung</a:t>
            </a:r>
            <a:endParaRPr lang="de-DE" sz="1425" dirty="0"/>
          </a:p>
        </p:txBody>
      </p:sp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ource Serif 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ource Sans 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Strategie 2027</dc:title>
  <dc:subject>PptxGenJS Presentation</dc:subject>
  <dc:creator>Deckwerk</dc:creator>
  <cp:lastModifiedBy>Deckwerk</cp:lastModifiedBy>
  <cp:revision>1</cp:revision>
  <dcterms:created xsi:type="dcterms:W3CDTF">2026-10-04T14:47:34Z</dcterms:created>
  <dcterms:modified xsi:type="dcterms:W3CDTF">2026-10-04T14:47:34Z</dcterms:modified>
</cp:coreProperties>
</file>