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Source Serif 4" pitchFamily="18" charset="0"/>
      <p:regular r:id="rId19"/>
      <p:bold r:id="rId20"/>
      <p:italic r:id="rId21"/>
      <p:boldItalic r:id="rId22"/>
    </p:embeddedFont>
    <p:embeddedFont>
      <p:font typeface="Source Sans 3" pitchFamily="3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35E01C99-39B7-4553-9C65-ED172C73A229}">
          <p14:sldIdLst>
            <p14:sldId id="256"/>
            <p14:sldId id="257"/>
          </p14:sldIdLst>
        </p14:section>
        <p14:section name="01 Ausgangslage" id="{A723AC06-BEFD-47A1-93DA-72B796B9C279}">
          <p14:sldIdLst>
            <p14:sldId id="258"/>
            <p14:sldId id="259"/>
            <p14:sldId id="260"/>
          </p14:sldIdLst>
        </p14:section>
        <p14:section name="02 Drei Schwerpunkte" id="{C3E44D79-A4B8-4987-AF70-0C949654639C}">
          <p14:sldIdLst>
            <p14:sldId id="261"/>
            <p14:sldId id="262"/>
          </p14:sldIdLst>
        </p14:section>
        <p14:section name="03 Weg bis 2027" id="{339513E2-8E8C-458F-9DF2-6B65D1192B42}">
          <p14:sldIdLst>
            <p14:sldId id="263"/>
            <p14:sldId id="264"/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Umsatzanteil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A8A"/>
              </a:solidFill>
              <a:ln w="25400" cap="flat">
                <a:solidFill>
                  <a:srgbClr val="FBFAF7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A3A6AD"/>
              </a:solidFill>
              <a:ln w="25400" cap="flat">
                <a:solidFill>
                  <a:srgbClr val="FBFAF7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8CAD0"/>
              </a:solidFill>
              <a:ln w="25400" cap="flat">
                <a:solidFill>
                  <a:srgbClr val="FBFAF7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5A6B99"/>
              </a:solidFill>
              <a:ln w="25400" cap="flat">
                <a:solidFill>
                  <a:srgbClr val="FBFAF7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Service</c:v>
                </c:pt>
                <c:pt idx="1">
                  <c:v>Produkte</c:v>
                </c:pt>
                <c:pt idx="2">
                  <c:v>Projekte</c:v>
                </c:pt>
                <c:pt idx="3">
                  <c:v>Schulung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50</c:v>
                </c:pt>
                <c:pt idx="1">
                  <c:v>28</c:v>
                </c:pt>
                <c:pt idx="2">
                  <c:v>15</c:v>
                </c:pt>
                <c:pt idx="3">
                  <c:v>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400">
              <a:solidFill>
                <a:srgbClr val="1A1D24"/>
              </a:solidFill>
              <a:latin typeface="Source Sans 3"/>
              <a:cs typeface="Source Sans 3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Einstieg: Die Strategie ist das Ergebnis von drei Workshops mit allen Bereichsleitungen.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Agenda kehrt vor jedem Kapitel zurück, der aktive Punkt wandert 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Kapitel 1. Kurz halten.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Zahl stammt aus der Kundenbefragung 2026 (n = 412). Verlässlichkeit schlägt Preis deutlich.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Anteil der Dienstleistungen wächst, das Projektgeschäft schrumpft. Das prägt die Schwerpunkte.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Kapitel 2. Die drei Schwerpunkte sind das Herz der Präsentation.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Jeder Schwerpunkt hat eine verantwortliche Person aus der Bereichsleitung und ein messbares Ziel.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Kapitel 3: Wie wir vorgehen.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Vorgehen gilt für alle drei Schwerpunkte gleich. Quartalsweise Review im Führungskreis.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Beirat sieht den Fortschritt in jeder Sitzung anhand dieser vier Meilensteine.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Links, was heute beschlossen wird. Rechts, was wir dafür vom Beirat brauchen.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Abstimmung einholen, danach Ausblick auf die nächste Sitzung im Januar.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slide" Target="slide3.xml"/><Relationship Id="rId5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eyebrow"/>
          <p:cNvSpPr/>
          <p:nvPr/>
        </p:nvSpPr>
        <p:spPr>
          <a:xfrm>
            <a:off x="685800" y="1816522"/>
            <a:ext cx="8720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de-DE" altLang="en-US" sz="1050" b="1" spc="11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Strategie 2027</a:t>
            </a:r>
            <a:endParaRPr lang="de-DE" sz="1050" dirty="0"/>
          </a:p>
        </p:txBody>
      </p:sp>
      <p:sp>
        <p:nvSpPr>
          <p:cNvPr id="3" name="dw:title"/>
          <p:cNvSpPr/>
          <p:nvPr/>
        </p:nvSpPr>
        <p:spPr>
          <a:xfrm>
            <a:off x="685800" y="2205112"/>
            <a:ext cx="9667875" cy="229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17"/>
              </a:lnSpc>
              <a:buNone/>
            </a:pPr>
            <a:r>
              <a:rPr lang="de-DE" altLang="en-US" sz="5676" spc="-68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Wir werden bis 2027</a:t>
            </a:r>
            <a:endParaRPr lang="de-DE" sz="5676" dirty="0"/>
          </a:p>
          <a:p>
            <a:pPr algn="l" indent="0" marL="0">
              <a:lnSpc>
                <a:spcPts val="6017"/>
              </a:lnSpc>
              <a:buNone/>
            </a:pPr>
            <a:r>
              <a:rPr lang="de-DE" altLang="en-US" sz="5676" spc="-68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der verlässlichste</a:t>
            </a:r>
            <a:endParaRPr lang="de-DE" sz="5676" dirty="0"/>
          </a:p>
          <a:p>
            <a:pPr algn="l" indent="0" marL="0">
              <a:lnSpc>
                <a:spcPts val="6017"/>
              </a:lnSpc>
              <a:buNone/>
            </a:pPr>
            <a:r>
              <a:rPr lang="de-DE" altLang="en-US" sz="5676" spc="-68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Partner unserer Branche</a:t>
            </a:r>
            <a:endParaRPr lang="de-DE" sz="5676" dirty="0"/>
          </a:p>
        </p:txBody>
      </p:sp>
      <p:sp>
        <p:nvSpPr>
          <p:cNvPr id="4" name="dw:subtitle"/>
          <p:cNvSpPr/>
          <p:nvPr/>
        </p:nvSpPr>
        <p:spPr>
          <a:xfrm>
            <a:off x="685800" y="4725963"/>
            <a:ext cx="8314372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Drei Schwerpunkte, ein gemeinsamer Plan für den Führungskreis</a:t>
            </a:r>
            <a:endParaRPr lang="de-DE" sz="1800" dirty="0"/>
          </a:p>
        </p:txBody>
      </p:sp>
      <p:sp>
        <p:nvSpPr>
          <p:cNvPr id="5" name="dw:meta"/>
          <p:cNvSpPr/>
          <p:nvPr/>
        </p:nvSpPr>
        <p:spPr>
          <a:xfrm>
            <a:off x="685800" y="5933331"/>
            <a:ext cx="2495067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Beiratssitzung · 14. Oktober 2026</a:t>
            </a:r>
            <a:endParaRPr lang="de-DE" sz="14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title"/>
          <p:cNvSpPr/>
          <p:nvPr/>
        </p:nvSpPr>
        <p:spPr>
          <a:xfrm>
            <a:off x="685800" y="742950"/>
            <a:ext cx="3093720" cy="556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spc="-46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Agenda</a:t>
            </a:r>
            <a:endParaRPr lang="de-DE" sz="3843" dirty="0"/>
          </a:p>
        </p:txBody>
      </p:sp>
      <p:sp>
        <p:nvSpPr>
          <p:cNvPr id="3" name="dw:_active"/>
          <p:cNvSpPr/>
          <p:nvPr/>
        </p:nvSpPr>
        <p:spPr>
          <a:xfrm>
            <a:off x="4343400" y="571500"/>
            <a:ext cx="7162800" cy="1084287"/>
          </a:xfrm>
          <a:prstGeom prst="rect">
            <a:avLst/>
          </a:prstGeom>
          <a:ln/>
        </p:spPr>
      </p:sp>
      <p:sp>
        <p:nvSpPr>
          <p:cNvPr id="4" name="dw:_num.0"/>
          <p:cNvSpPr/>
          <p:nvPr/>
        </p:nvSpPr>
        <p:spPr>
          <a:xfrm>
            <a:off x="4572000" y="833438"/>
            <a:ext cx="312242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spc="-43" kern="0" dirty="0">
                <a:solidFill>
                  <a:srgbClr val="1F3A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de-DE" sz="1425" dirty="0"/>
          </a:p>
        </p:txBody>
      </p:sp>
      <p:sp>
        <p:nvSpPr>
          <p:cNvPr id="5" name="dw:items.0.title">
            <a:hlinkClick r:id="rId4" action="ppaction://hlinksldjump"/>
          </p:cNvPr>
          <p:cNvSpPr/>
          <p:nvPr/>
        </p:nvSpPr>
        <p:spPr>
          <a:xfrm>
            <a:off x="5146328" y="781050"/>
            <a:ext cx="6223241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spc="-12" kern="0" dirty="0">
                <a:solidFill>
                  <a:srgbClr val="1F3A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Ausgangslage</a:t>
            </a:r>
            <a:endParaRPr lang="de-DE" sz="1950" dirty="0"/>
          </a:p>
        </p:txBody>
      </p:sp>
      <p:sp>
        <p:nvSpPr>
          <p:cNvPr id="6" name="dw:items.0.desc"/>
          <p:cNvSpPr/>
          <p:nvPr/>
        </p:nvSpPr>
        <p:spPr>
          <a:xfrm>
            <a:off x="5146328" y="1121271"/>
            <a:ext cx="6223241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1A1D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 wir stehen und was sich verändert hat</a:t>
            </a:r>
            <a:endParaRPr lang="de-DE" sz="1800" dirty="0"/>
          </a:p>
        </p:txBody>
      </p:sp>
      <p:sp>
        <p:nvSpPr>
          <p:cNvPr id="7" name="dw:_num.1"/>
          <p:cNvSpPr/>
          <p:nvPr/>
        </p:nvSpPr>
        <p:spPr>
          <a:xfrm>
            <a:off x="4572000" y="1917725"/>
            <a:ext cx="312242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spc="-43" kern="0" dirty="0">
                <a:solidFill>
                  <a:srgbClr val="1F3A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de-DE" sz="1425" dirty="0"/>
          </a:p>
        </p:txBody>
      </p:sp>
      <p:sp>
        <p:nvSpPr>
          <p:cNvPr id="8" name="dw:items.1.title">
            <a:hlinkClick r:id="rId5" action="ppaction://hlinksldjump"/>
          </p:cNvPr>
          <p:cNvSpPr/>
          <p:nvPr/>
        </p:nvSpPr>
        <p:spPr>
          <a:xfrm>
            <a:off x="5146328" y="1865337"/>
            <a:ext cx="6223241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spc="-12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Drei Schwerpunkte</a:t>
            </a:r>
            <a:endParaRPr lang="de-DE" sz="1950" dirty="0"/>
          </a:p>
        </p:txBody>
      </p:sp>
      <p:sp>
        <p:nvSpPr>
          <p:cNvPr id="9" name="dw:items.1.desc"/>
          <p:cNvSpPr/>
          <p:nvPr/>
        </p:nvSpPr>
        <p:spPr>
          <a:xfrm>
            <a:off x="5146328" y="2205558"/>
            <a:ext cx="6223241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1A1D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Verlässlichkeit, Digitalisierung, Nachwuchs</a:t>
            </a:r>
            <a:endParaRPr lang="de-DE" sz="1800" dirty="0"/>
          </a:p>
        </p:txBody>
      </p:sp>
      <p:sp>
        <p:nvSpPr>
          <p:cNvPr id="10" name="dw:_num.2"/>
          <p:cNvSpPr/>
          <p:nvPr/>
        </p:nvSpPr>
        <p:spPr>
          <a:xfrm>
            <a:off x="4572000" y="3002012"/>
            <a:ext cx="312242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spc="-43" kern="0" dirty="0">
                <a:solidFill>
                  <a:srgbClr val="1F3A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de-DE" sz="1425" dirty="0"/>
          </a:p>
        </p:txBody>
      </p:sp>
      <p:sp>
        <p:nvSpPr>
          <p:cNvPr id="11" name="dw:items.2.title"/>
          <p:cNvSpPr/>
          <p:nvPr/>
        </p:nvSpPr>
        <p:spPr>
          <a:xfrm>
            <a:off x="5146328" y="2949625"/>
            <a:ext cx="6223241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spc="-12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Weg bis 2027</a:t>
            </a:r>
            <a:endParaRPr lang="de-DE" sz="1950" dirty="0"/>
          </a:p>
        </p:txBody>
      </p:sp>
      <p:sp>
        <p:nvSpPr>
          <p:cNvPr id="12" name="dw:items.2.desc"/>
          <p:cNvSpPr/>
          <p:nvPr/>
        </p:nvSpPr>
        <p:spPr>
          <a:xfrm>
            <a:off x="5146328" y="3289846"/>
            <a:ext cx="6223241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1A1D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Meilensteine und Vorgehen</a:t>
            </a:r>
            <a:endParaRPr lang="de-DE" sz="1800" dirty="0"/>
          </a:p>
        </p:txBody>
      </p:sp>
      <p:sp>
        <p:nvSpPr>
          <p:cNvPr id="13" name="dw:_num.3"/>
          <p:cNvSpPr/>
          <p:nvPr/>
        </p:nvSpPr>
        <p:spPr>
          <a:xfrm>
            <a:off x="4572000" y="4086299"/>
            <a:ext cx="312242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spc="-43" kern="0" dirty="0">
                <a:solidFill>
                  <a:srgbClr val="1F3A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de-DE" sz="1425" dirty="0"/>
          </a:p>
        </p:txBody>
      </p:sp>
      <p:sp>
        <p:nvSpPr>
          <p:cNvPr id="14" name="dw:items.3.title"/>
          <p:cNvSpPr/>
          <p:nvPr/>
        </p:nvSpPr>
        <p:spPr>
          <a:xfrm>
            <a:off x="5146328" y="4033912"/>
            <a:ext cx="6223241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spc="-12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Entscheidung</a:t>
            </a:r>
            <a:endParaRPr lang="de-DE" sz="1950" dirty="0"/>
          </a:p>
        </p:txBody>
      </p:sp>
      <p:sp>
        <p:nvSpPr>
          <p:cNvPr id="15" name="dw:items.3.desc"/>
          <p:cNvSpPr/>
          <p:nvPr/>
        </p:nvSpPr>
        <p:spPr>
          <a:xfrm>
            <a:off x="5146328" y="4374133"/>
            <a:ext cx="6223241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1A1D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Was der Beirat heute verabschiedet</a:t>
            </a:r>
            <a:endParaRPr lang="de-DE" sz="1800" dirty="0"/>
          </a:p>
        </p:txBody>
      </p:sp>
      <p:sp>
        <p:nvSpPr>
          <p:cNvPr id="16" name="dw:_footer.page"/>
          <p:cNvSpPr/>
          <p:nvPr/>
        </p:nvSpPr>
        <p:spPr>
          <a:xfrm>
            <a:off x="11213827" y="6450360"/>
            <a:ext cx="29675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 / 12</a:t>
            </a:r>
            <a:endParaRPr lang="de-DE" sz="975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number"/>
          <p:cNvSpPr/>
          <p:nvPr/>
        </p:nvSpPr>
        <p:spPr>
          <a:xfrm>
            <a:off x="685800" y="571500"/>
            <a:ext cx="947451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0"/>
              </a:lnSpc>
              <a:buNone/>
            </a:pPr>
            <a:r>
              <a:rPr lang="de-DE" altLang="en-US" sz="15000" spc="-600" kern="0" dirty="0">
                <a:solidFill>
                  <a:srgbClr val="A4A5A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de-DE" sz="15000" dirty="0"/>
          </a:p>
        </p:txBody>
      </p:sp>
      <p:sp>
        <p:nvSpPr>
          <p:cNvPr id="3" name="dw:title"/>
          <p:cNvSpPr/>
          <p:nvPr/>
        </p:nvSpPr>
        <p:spPr>
          <a:xfrm>
            <a:off x="685800" y="4634880"/>
            <a:ext cx="9474518" cy="936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71"/>
              </a:lnSpc>
              <a:buNone/>
            </a:pPr>
            <a:r>
              <a:rPr lang="de-DE" altLang="en-US" sz="6954" spc="-83" kern="0" dirty="0">
                <a:solidFill>
                  <a:srgbClr val="FBFAF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Ausgangslage</a:t>
            </a:r>
            <a:endParaRPr lang="de-DE" sz="6954" dirty="0"/>
          </a:p>
        </p:txBody>
      </p:sp>
      <p:sp>
        <p:nvSpPr>
          <p:cNvPr id="4" name="dw:subtitle"/>
          <p:cNvSpPr/>
          <p:nvPr/>
        </p:nvSpPr>
        <p:spPr>
          <a:xfrm>
            <a:off x="685800" y="5742459"/>
            <a:ext cx="7540943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A4A5A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Stabiles Geschäft, aber ein Markt, der sich schneller dreht als wir</a:t>
            </a:r>
            <a:endParaRPr lang="de-DE" sz="1800" dirty="0"/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eyebrow"/>
          <p:cNvSpPr/>
          <p:nvPr/>
        </p:nvSpPr>
        <p:spPr>
          <a:xfrm>
            <a:off x="685800" y="1462534"/>
            <a:ext cx="11251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de-DE" altLang="en-US" sz="1050" b="1" spc="11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Was Kunden sagen</a:t>
            </a:r>
            <a:endParaRPr lang="de-DE" sz="1050" dirty="0"/>
          </a:p>
        </p:txBody>
      </p:sp>
      <p:sp>
        <p:nvSpPr>
          <p:cNvPr id="3" name="dw:text"/>
          <p:cNvSpPr/>
          <p:nvPr/>
        </p:nvSpPr>
        <p:spPr>
          <a:xfrm>
            <a:off x="685800" y="1908274"/>
            <a:ext cx="10054590" cy="2695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7"/>
              </a:lnSpc>
              <a:buNone/>
            </a:pPr>
            <a:r>
              <a:rPr lang="de-DE" altLang="en-US" sz="4575" spc="-55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Für </a:t>
            </a:r>
            <a:pPr algn="l" indent="0" marL="0">
              <a:lnSpc>
                <a:spcPts val="5307"/>
              </a:lnSpc>
              <a:buNone/>
            </a:pPr>
            <a:r>
              <a:rPr lang="de-DE" altLang="en-US" sz="4575" spc="-55" kern="0" dirty="0">
                <a:solidFill>
                  <a:srgbClr val="1F3A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83 % unserer Kunden</a:t>
            </a:r>
            <a:endParaRPr lang="de-DE" sz="4575" dirty="0"/>
          </a:p>
          <a:p>
            <a:pPr algn="l" indent="0" marL="0">
              <a:lnSpc>
                <a:spcPts val="5307"/>
              </a:lnSpc>
              <a:buNone/>
            </a:pPr>
            <a:r>
              <a:rPr lang="de-DE" altLang="en-US" sz="4575" spc="-55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zählt Verlässlichkeit mehr als</a:t>
            </a:r>
            <a:endParaRPr lang="de-DE" sz="4575" dirty="0"/>
          </a:p>
          <a:p>
            <a:pPr algn="l" indent="0" marL="0">
              <a:lnSpc>
                <a:spcPts val="5307"/>
              </a:lnSpc>
              <a:buNone/>
            </a:pPr>
            <a:r>
              <a:rPr lang="de-DE" altLang="en-US" sz="4575" spc="-55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der Preis – und genau dort</a:t>
            </a:r>
            <a:endParaRPr lang="de-DE" sz="4575" dirty="0"/>
          </a:p>
          <a:p>
            <a:pPr algn="l" indent="0" marL="0">
              <a:lnSpc>
                <a:spcPts val="5307"/>
              </a:lnSpc>
              <a:buNone/>
            </a:pPr>
            <a:r>
              <a:rPr lang="de-DE" altLang="en-US" sz="4575" spc="-55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verlieren wir zuletzt Punkte.</a:t>
            </a:r>
            <a:endParaRPr lang="de-DE" sz="4575" dirty="0"/>
          </a:p>
        </p:txBody>
      </p:sp>
      <p:sp>
        <p:nvSpPr>
          <p:cNvPr id="4" name="dw:source"/>
          <p:cNvSpPr/>
          <p:nvPr/>
        </p:nvSpPr>
        <p:spPr>
          <a:xfrm>
            <a:off x="685800" y="5042297"/>
            <a:ext cx="3673264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Kundenbefragung Frühjahr 2026, 412 Antworten</a:t>
            </a:r>
            <a:endParaRPr lang="de-DE" sz="1425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eyebrow"/>
          <p:cNvSpPr/>
          <p:nvPr/>
        </p:nvSpPr>
        <p:spPr>
          <a:xfrm>
            <a:off x="685800" y="571500"/>
            <a:ext cx="12794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de-DE" altLang="en-US" sz="1050" b="1" spc="11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Umsatzstruktur 2026</a:t>
            </a:r>
            <a:endParaRPr lang="de-DE" sz="1050" dirty="0"/>
          </a:p>
        </p:txBody>
      </p:sp>
      <p:sp>
        <p:nvSpPr>
          <p:cNvPr id="3" name="dw:title"/>
          <p:cNvSpPr/>
          <p:nvPr/>
        </p:nvSpPr>
        <p:spPr>
          <a:xfrm>
            <a:off x="685800" y="864840"/>
            <a:ext cx="9667875" cy="111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spc="-46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Dienstleistungen machen bereits</a:t>
            </a:r>
            <a:endParaRPr lang="de-DE" sz="3843" dirty="0"/>
          </a:p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spc="-46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die Hälfte des Umsatzes aus</a:t>
            </a:r>
            <a:endParaRPr lang="de-DE" sz="3843" dirty="0"/>
          </a:p>
        </p:txBody>
      </p:sp>
      <p:sp>
        <p:nvSpPr>
          <p:cNvPr id="4" name="dw:_unit"/>
          <p:cNvSpPr/>
          <p:nvPr/>
        </p:nvSpPr>
        <p:spPr>
          <a:xfrm>
            <a:off x="685800" y="2358628"/>
            <a:ext cx="298647" cy="22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de-DE" altLang="en-US" sz="1275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%</a:t>
            </a:r>
            <a:endParaRPr lang="de-DE" sz="1275" dirty="0"/>
          </a:p>
        </p:txBody>
      </p:sp>
      <p:graphicFrame>
        <p:nvGraphicFramePr>
          <p:cNvPr id="5" name="dw:chart" descr=""/>
          <p:cNvGraphicFramePr/>
          <p:nvPr/>
        </p:nvGraphicFramePr>
        <p:xfrm>
          <a:off x="685800" y="2664693"/>
          <a:ext cx="5905500" cy="318752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w:_take"/>
          <p:cNvSpPr/>
          <p:nvPr/>
        </p:nvSpPr>
        <p:spPr>
          <a:xfrm>
            <a:off x="8362950" y="2358628"/>
            <a:ext cx="3143250" cy="3493591"/>
          </a:xfrm>
          <a:prstGeom prst="rect">
            <a:avLst/>
          </a:prstGeom>
          <a:ln/>
        </p:spPr>
      </p:sp>
      <p:sp>
        <p:nvSpPr>
          <p:cNvPr id="7" name="dw:takeaway.value"/>
          <p:cNvSpPr/>
          <p:nvPr/>
        </p:nvSpPr>
        <p:spPr>
          <a:xfrm>
            <a:off x="8362950" y="2625328"/>
            <a:ext cx="3190399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de-DE" altLang="en-US" sz="5400" spc="-162" kern="0" dirty="0">
                <a:solidFill>
                  <a:srgbClr val="1F3A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50 %</a:t>
            </a:r>
            <a:endParaRPr lang="de-DE" sz="5400" dirty="0"/>
          </a:p>
        </p:txBody>
      </p:sp>
      <p:sp>
        <p:nvSpPr>
          <p:cNvPr id="8" name="dw:takeaway.text"/>
          <p:cNvSpPr/>
          <p:nvPr/>
        </p:nvSpPr>
        <p:spPr>
          <a:xfrm>
            <a:off x="8362950" y="3459659"/>
            <a:ext cx="3190399" cy="94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1A1D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Serviceanteil – 2023 waren es 31 %. Unsere Organisation ist noch auf Projekte ausgelegt.</a:t>
            </a:r>
            <a:endParaRPr lang="de-DE" sz="1800" dirty="0"/>
          </a:p>
        </p:txBody>
      </p:sp>
      <p:sp>
        <p:nvSpPr>
          <p:cNvPr id="9" name="dw:source"/>
          <p:cNvSpPr/>
          <p:nvPr/>
        </p:nvSpPr>
        <p:spPr>
          <a:xfrm>
            <a:off x="685800" y="6023670"/>
            <a:ext cx="1098270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Controlling, Geschäftsjahr 2025/26</a:t>
            </a:r>
            <a:endParaRPr lang="de-DE" sz="975" dirty="0"/>
          </a:p>
        </p:txBody>
      </p:sp>
      <p:sp>
        <p:nvSpPr>
          <p:cNvPr id="10" name="dw:_footer.title"/>
          <p:cNvSpPr/>
          <p:nvPr/>
        </p:nvSpPr>
        <p:spPr>
          <a:xfrm>
            <a:off x="685800" y="6450360"/>
            <a:ext cx="74744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Ausgangslage</a:t>
            </a:r>
            <a:endParaRPr lang="de-DE" sz="975" dirty="0"/>
          </a:p>
        </p:txBody>
      </p:sp>
      <p:sp>
        <p:nvSpPr>
          <p:cNvPr id="11" name="dw:_footer.page"/>
          <p:cNvSpPr/>
          <p:nvPr/>
        </p:nvSpPr>
        <p:spPr>
          <a:xfrm>
            <a:off x="11213827" y="6450360"/>
            <a:ext cx="29675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 / 12</a:t>
            </a:r>
            <a:endParaRPr lang="de-DE" sz="975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number"/>
          <p:cNvSpPr/>
          <p:nvPr/>
        </p:nvSpPr>
        <p:spPr>
          <a:xfrm>
            <a:off x="685800" y="571500"/>
            <a:ext cx="947451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0"/>
              </a:lnSpc>
              <a:buNone/>
            </a:pPr>
            <a:r>
              <a:rPr lang="de-DE" altLang="en-US" sz="15000" spc="-600" kern="0" dirty="0">
                <a:solidFill>
                  <a:srgbClr val="A4A5A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de-DE" sz="15000" dirty="0"/>
          </a:p>
        </p:txBody>
      </p:sp>
      <p:sp>
        <p:nvSpPr>
          <p:cNvPr id="3" name="dw:title"/>
          <p:cNvSpPr/>
          <p:nvPr/>
        </p:nvSpPr>
        <p:spPr>
          <a:xfrm>
            <a:off x="685800" y="4634880"/>
            <a:ext cx="9474518" cy="936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71"/>
              </a:lnSpc>
              <a:buNone/>
            </a:pPr>
            <a:r>
              <a:rPr lang="de-DE" altLang="en-US" sz="6954" spc="-83" kern="0" dirty="0">
                <a:solidFill>
                  <a:srgbClr val="FBFAF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Drei Schwerpunkte</a:t>
            </a:r>
            <a:endParaRPr lang="de-DE" sz="6954" dirty="0"/>
          </a:p>
        </p:txBody>
      </p:sp>
      <p:sp>
        <p:nvSpPr>
          <p:cNvPr id="4" name="dw:subtitle"/>
          <p:cNvSpPr/>
          <p:nvPr/>
        </p:nvSpPr>
        <p:spPr>
          <a:xfrm>
            <a:off x="685800" y="5742459"/>
            <a:ext cx="7540943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A4A5A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Verlässlichkeit, Digitalisierung, Nachwuchs</a:t>
            </a:r>
            <a:endParaRPr lang="de-DE" sz="1800" dirty="0"/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eyebrow"/>
          <p:cNvSpPr/>
          <p:nvPr/>
        </p:nvSpPr>
        <p:spPr>
          <a:xfrm>
            <a:off x="685800" y="571500"/>
            <a:ext cx="8809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de-DE" altLang="en-US" sz="1050" b="1" spc="11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Schwerpunkte</a:t>
            </a:r>
            <a:endParaRPr lang="de-DE" sz="1050" dirty="0"/>
          </a:p>
        </p:txBody>
      </p:sp>
      <p:sp>
        <p:nvSpPr>
          <p:cNvPr id="3" name="dw:title"/>
          <p:cNvSpPr/>
          <p:nvPr/>
        </p:nvSpPr>
        <p:spPr>
          <a:xfrm>
            <a:off x="685800" y="864840"/>
            <a:ext cx="9667875" cy="111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spc="-46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Drei Schwerpunkte machen uns</a:t>
            </a:r>
            <a:endParaRPr lang="de-DE" sz="3843" dirty="0"/>
          </a:p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spc="-46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bis 2027 messbar verlässlicher</a:t>
            </a:r>
            <a:endParaRPr lang="de-DE" sz="3843" dirty="0"/>
          </a:p>
        </p:txBody>
      </p:sp>
      <p:sp>
        <p:nvSpPr>
          <p:cNvPr id="4" name="dw:_card.0"/>
          <p:cNvSpPr/>
          <p:nvPr/>
        </p:nvSpPr>
        <p:spPr>
          <a:xfrm>
            <a:off x="685800" y="2358628"/>
            <a:ext cx="3454375" cy="2476500"/>
          </a:xfrm>
          <a:prstGeom prst="rect">
            <a:avLst/>
          </a:prstGeom>
          <a:ln/>
        </p:spPr>
      </p:sp>
      <p:sp>
        <p:nvSpPr>
          <p:cNvPr id="5" name="dw:_ib.0"/>
          <p:cNvSpPr/>
          <p:nvPr/>
        </p:nvSpPr>
        <p:spPr>
          <a:xfrm>
            <a:off x="685800" y="2625328"/>
            <a:ext cx="381000" cy="381000"/>
          </a:xfrm>
          <a:prstGeom prst="rect">
            <a:avLst/>
          </a:prstGeom>
          <a:ln/>
        </p:spPr>
      </p:sp>
      <p:pic>
        <p:nvPicPr>
          <p:cNvPr id="6" name="dw:_icon.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692003"/>
            <a:ext cx="247650" cy="247650"/>
          </a:xfrm>
          <a:prstGeom prst="rect">
            <a:avLst/>
          </a:prstGeom>
        </p:spPr>
      </p:pic>
      <p:sp>
        <p:nvSpPr>
          <p:cNvPr id="7" name="dw:items.0.text"/>
          <p:cNvSpPr/>
          <p:nvPr/>
        </p:nvSpPr>
        <p:spPr>
          <a:xfrm>
            <a:off x="685800" y="3301603"/>
            <a:ext cx="3506191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6"/>
              </a:lnSpc>
              <a:buNone/>
            </a:pPr>
            <a:r>
              <a:rPr lang="de-DE" altLang="en-US" sz="1650" b="1" spc="-10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Verlässlichkeit:</a:t>
            </a:r>
            <a:endParaRPr lang="de-DE" sz="1650" dirty="0"/>
          </a:p>
          <a:p>
            <a:pPr algn="l" indent="0" marL="0">
              <a:lnSpc>
                <a:spcPts val="2046"/>
              </a:lnSpc>
              <a:buNone/>
            </a:pPr>
            <a:r>
              <a:rPr lang="de-DE" altLang="en-US" sz="1650" b="1" spc="-10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Liefertreue von 91 auf 98 %</a:t>
            </a:r>
            <a:endParaRPr lang="de-DE" sz="1650" dirty="0"/>
          </a:p>
        </p:txBody>
      </p:sp>
      <p:sp>
        <p:nvSpPr>
          <p:cNvPr id="8" name="dw:items.0.sub"/>
          <p:cNvSpPr/>
          <p:nvPr/>
        </p:nvSpPr>
        <p:spPr>
          <a:xfrm>
            <a:off x="685800" y="3897362"/>
            <a:ext cx="3506191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Servicelevel je Kunde vereinbaren und wöchentlich messen</a:t>
            </a:r>
            <a:endParaRPr lang="de-DE" sz="1425" dirty="0"/>
          </a:p>
        </p:txBody>
      </p:sp>
      <p:sp>
        <p:nvSpPr>
          <p:cNvPr id="9" name="dw:_card.1"/>
          <p:cNvSpPr/>
          <p:nvPr/>
        </p:nvSpPr>
        <p:spPr>
          <a:xfrm>
            <a:off x="4368775" y="2358628"/>
            <a:ext cx="3454375" cy="2476500"/>
          </a:xfrm>
          <a:prstGeom prst="rect">
            <a:avLst/>
          </a:prstGeom>
          <a:ln/>
        </p:spPr>
      </p:sp>
      <p:sp>
        <p:nvSpPr>
          <p:cNvPr id="10" name="dw:_ib.1"/>
          <p:cNvSpPr/>
          <p:nvPr/>
        </p:nvSpPr>
        <p:spPr>
          <a:xfrm>
            <a:off x="4368775" y="2625328"/>
            <a:ext cx="381000" cy="381000"/>
          </a:xfrm>
          <a:prstGeom prst="rect">
            <a:avLst/>
          </a:prstGeom>
          <a:ln/>
        </p:spPr>
      </p:sp>
      <p:pic>
        <p:nvPicPr>
          <p:cNvPr id="11" name="dw:_icon.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450" y="2692003"/>
            <a:ext cx="247650" cy="247650"/>
          </a:xfrm>
          <a:prstGeom prst="rect">
            <a:avLst/>
          </a:prstGeom>
        </p:spPr>
      </p:pic>
      <p:sp>
        <p:nvSpPr>
          <p:cNvPr id="12" name="dw:items.1.text"/>
          <p:cNvSpPr/>
          <p:nvPr/>
        </p:nvSpPr>
        <p:spPr>
          <a:xfrm>
            <a:off x="4368775" y="3301603"/>
            <a:ext cx="3506191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6"/>
              </a:lnSpc>
              <a:buNone/>
            </a:pPr>
            <a:r>
              <a:rPr lang="de-DE" altLang="en-US" sz="1650" b="1" spc="-10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Digitalisierung: Ein</a:t>
            </a:r>
            <a:endParaRPr lang="de-DE" sz="1650" dirty="0"/>
          </a:p>
          <a:p>
            <a:pPr algn="l" indent="0" marL="0">
              <a:lnSpc>
                <a:spcPts val="2046"/>
              </a:lnSpc>
              <a:buNone/>
            </a:pPr>
            <a:r>
              <a:rPr lang="de-DE" altLang="en-US" sz="1650" b="1" spc="-10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Kundenportal statt vier Kanälen</a:t>
            </a:r>
            <a:endParaRPr lang="de-DE" sz="1650" dirty="0"/>
          </a:p>
        </p:txBody>
      </p:sp>
      <p:sp>
        <p:nvSpPr>
          <p:cNvPr id="13" name="dw:items.1.sub"/>
          <p:cNvSpPr/>
          <p:nvPr/>
        </p:nvSpPr>
        <p:spPr>
          <a:xfrm>
            <a:off x="4368775" y="3897362"/>
            <a:ext cx="3506191" cy="47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Aufträge, Status und Rechnungen an einem Ort</a:t>
            </a:r>
            <a:endParaRPr lang="de-DE" sz="1425" dirty="0"/>
          </a:p>
        </p:txBody>
      </p:sp>
      <p:sp>
        <p:nvSpPr>
          <p:cNvPr id="14" name="dw:_card.2"/>
          <p:cNvSpPr/>
          <p:nvPr/>
        </p:nvSpPr>
        <p:spPr>
          <a:xfrm>
            <a:off x="8051750" y="2358628"/>
            <a:ext cx="3454375" cy="2476500"/>
          </a:xfrm>
          <a:prstGeom prst="rect">
            <a:avLst/>
          </a:prstGeom>
          <a:ln/>
        </p:spPr>
      </p:sp>
      <p:sp>
        <p:nvSpPr>
          <p:cNvPr id="15" name="dw:_ib.2"/>
          <p:cNvSpPr/>
          <p:nvPr/>
        </p:nvSpPr>
        <p:spPr>
          <a:xfrm>
            <a:off x="8051750" y="2625328"/>
            <a:ext cx="381000" cy="381000"/>
          </a:xfrm>
          <a:prstGeom prst="rect">
            <a:avLst/>
          </a:prstGeom>
          <a:ln/>
        </p:spPr>
      </p:sp>
      <p:pic>
        <p:nvPicPr>
          <p:cNvPr id="16" name="dw:_icon.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425" y="2692003"/>
            <a:ext cx="247650" cy="247650"/>
          </a:xfrm>
          <a:prstGeom prst="rect">
            <a:avLst/>
          </a:prstGeom>
        </p:spPr>
      </p:pic>
      <p:sp>
        <p:nvSpPr>
          <p:cNvPr id="17" name="dw:items.2.text"/>
          <p:cNvSpPr/>
          <p:nvPr/>
        </p:nvSpPr>
        <p:spPr>
          <a:xfrm>
            <a:off x="8051750" y="3301603"/>
            <a:ext cx="3506191" cy="519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6"/>
              </a:lnSpc>
              <a:buNone/>
            </a:pPr>
            <a:r>
              <a:rPr lang="de-DE" altLang="en-US" sz="1650" b="1" spc="-10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Nachwuchs: 20</a:t>
            </a:r>
            <a:endParaRPr lang="de-DE" sz="1650" dirty="0"/>
          </a:p>
          <a:p>
            <a:pPr algn="l" indent="0" marL="0">
              <a:lnSpc>
                <a:spcPts val="2046"/>
              </a:lnSpc>
              <a:buNone/>
            </a:pPr>
            <a:r>
              <a:rPr lang="de-DE" altLang="en-US" sz="1650" b="1" spc="-10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Ausbildungsplätze pro Jahr</a:t>
            </a:r>
            <a:endParaRPr lang="de-DE" sz="1650" dirty="0"/>
          </a:p>
        </p:txBody>
      </p:sp>
      <p:sp>
        <p:nvSpPr>
          <p:cNvPr id="18" name="dw:items.2.sub"/>
          <p:cNvSpPr/>
          <p:nvPr/>
        </p:nvSpPr>
        <p:spPr>
          <a:xfrm>
            <a:off x="8051750" y="3897362"/>
            <a:ext cx="3506191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Eigene Akademie mit zwei Partnerschulen</a:t>
            </a:r>
            <a:endParaRPr lang="de-DE" sz="1425" dirty="0"/>
          </a:p>
        </p:txBody>
      </p:sp>
      <p:sp>
        <p:nvSpPr>
          <p:cNvPr id="19" name="dw:_footer.title"/>
          <p:cNvSpPr/>
          <p:nvPr/>
        </p:nvSpPr>
        <p:spPr>
          <a:xfrm>
            <a:off x="685800" y="6450360"/>
            <a:ext cx="103891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Drei Schwerpunkte</a:t>
            </a:r>
            <a:endParaRPr lang="de-DE" sz="975" dirty="0"/>
          </a:p>
        </p:txBody>
      </p:sp>
      <p:sp>
        <p:nvSpPr>
          <p:cNvPr id="20" name="dw:_footer.page"/>
          <p:cNvSpPr/>
          <p:nvPr/>
        </p:nvSpPr>
        <p:spPr>
          <a:xfrm>
            <a:off x="11213827" y="6450360"/>
            <a:ext cx="29675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 / 12</a:t>
            </a:r>
            <a:endParaRPr lang="de-DE" sz="975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number"/>
          <p:cNvSpPr/>
          <p:nvPr/>
        </p:nvSpPr>
        <p:spPr>
          <a:xfrm>
            <a:off x="685800" y="571500"/>
            <a:ext cx="947451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0"/>
              </a:lnSpc>
              <a:buNone/>
            </a:pPr>
            <a:r>
              <a:rPr lang="de-DE" altLang="en-US" sz="15000" spc="-600" kern="0" dirty="0">
                <a:solidFill>
                  <a:srgbClr val="A4A5A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de-DE" sz="15000" dirty="0"/>
          </a:p>
        </p:txBody>
      </p:sp>
      <p:sp>
        <p:nvSpPr>
          <p:cNvPr id="3" name="dw:title"/>
          <p:cNvSpPr/>
          <p:nvPr/>
        </p:nvSpPr>
        <p:spPr>
          <a:xfrm>
            <a:off x="685800" y="4634880"/>
            <a:ext cx="9474518" cy="936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71"/>
              </a:lnSpc>
              <a:buNone/>
            </a:pPr>
            <a:r>
              <a:rPr lang="de-DE" altLang="en-US" sz="6954" spc="-83" kern="0" dirty="0">
                <a:solidFill>
                  <a:srgbClr val="FBFAF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Weg bis 2027</a:t>
            </a:r>
            <a:endParaRPr lang="de-DE" sz="6954" dirty="0"/>
          </a:p>
        </p:txBody>
      </p:sp>
      <p:sp>
        <p:nvSpPr>
          <p:cNvPr id="4" name="dw:subtitle"/>
          <p:cNvSpPr/>
          <p:nvPr/>
        </p:nvSpPr>
        <p:spPr>
          <a:xfrm>
            <a:off x="685800" y="5742459"/>
            <a:ext cx="7540943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A4A5A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Vier Meilensteine, ein Vorgehen in vier Schritten</a:t>
            </a:r>
            <a:endParaRPr lang="de-DE" sz="1800" dirty="0"/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eyebrow"/>
          <p:cNvSpPr/>
          <p:nvPr/>
        </p:nvSpPr>
        <p:spPr>
          <a:xfrm>
            <a:off x="685800" y="571500"/>
            <a:ext cx="5759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de-DE" altLang="en-US" sz="1050" b="1" spc="11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Vorgehen</a:t>
            </a:r>
            <a:endParaRPr lang="de-DE" sz="1050" dirty="0"/>
          </a:p>
        </p:txBody>
      </p:sp>
      <p:sp>
        <p:nvSpPr>
          <p:cNvPr id="3" name="dw:title"/>
          <p:cNvSpPr/>
          <p:nvPr/>
        </p:nvSpPr>
        <p:spPr>
          <a:xfrm>
            <a:off x="685800" y="864840"/>
            <a:ext cx="9667875" cy="111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spc="-46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Jeder Schwerpunkt durchläuft</a:t>
            </a:r>
            <a:endParaRPr lang="de-DE" sz="3843" dirty="0"/>
          </a:p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spc="-46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dieselben vier Schritte</a:t>
            </a:r>
            <a:endParaRPr lang="de-DE" sz="3843" dirty="0"/>
          </a:p>
        </p:txBody>
      </p:sp>
      <p:sp>
        <p:nvSpPr>
          <p:cNvPr id="4" name="dw:_card.0"/>
          <p:cNvSpPr/>
          <p:nvPr/>
        </p:nvSpPr>
        <p:spPr>
          <a:xfrm>
            <a:off x="685800" y="2358628"/>
            <a:ext cx="2505075" cy="2478286"/>
          </a:xfrm>
          <a:prstGeom prst="rect">
            <a:avLst/>
          </a:prstGeom>
          <a:ln/>
        </p:spPr>
      </p:sp>
      <p:sp>
        <p:nvSpPr>
          <p:cNvPr id="5" name="dw:_n.0"/>
          <p:cNvSpPr/>
          <p:nvPr/>
        </p:nvSpPr>
        <p:spPr>
          <a:xfrm>
            <a:off x="685800" y="2639244"/>
            <a:ext cx="189959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spc="-17" kern="0" dirty="0">
                <a:solidFill>
                  <a:srgbClr val="1F3A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de-DE" sz="1425" dirty="0"/>
          </a:p>
        </p:txBody>
      </p:sp>
      <p:pic>
        <p:nvPicPr>
          <p:cNvPr id="6" name="dw:_icon.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5" y="2625328"/>
            <a:ext cx="266700" cy="266700"/>
          </a:xfrm>
          <a:prstGeom prst="rect">
            <a:avLst/>
          </a:prstGeom>
        </p:spPr>
      </p:pic>
      <p:sp>
        <p:nvSpPr>
          <p:cNvPr id="7" name="dw:steps.0.title"/>
          <p:cNvSpPr/>
          <p:nvPr/>
        </p:nvSpPr>
        <p:spPr>
          <a:xfrm>
            <a:off x="685800" y="3101578"/>
            <a:ext cx="242663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spc="-12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Messen</a:t>
            </a:r>
            <a:endParaRPr lang="de-DE" sz="1950" dirty="0"/>
          </a:p>
        </p:txBody>
      </p:sp>
      <p:sp>
        <p:nvSpPr>
          <p:cNvPr id="8" name="dw:steps.0.desc"/>
          <p:cNvSpPr/>
          <p:nvPr/>
        </p:nvSpPr>
        <p:spPr>
          <a:xfrm>
            <a:off x="685800" y="3537049"/>
            <a:ext cx="2426637" cy="63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Ausgangswert und Ziel je Schwerpunkt festlegen</a:t>
            </a:r>
            <a:endParaRPr lang="de-DE" sz="1800" dirty="0"/>
          </a:p>
        </p:txBody>
      </p:sp>
      <p:sp>
        <p:nvSpPr>
          <p:cNvPr id="9" name="dw:_card.1"/>
          <p:cNvSpPr/>
          <p:nvPr/>
        </p:nvSpPr>
        <p:spPr>
          <a:xfrm>
            <a:off x="3457575" y="2358628"/>
            <a:ext cx="2505075" cy="2478286"/>
          </a:xfrm>
          <a:prstGeom prst="rect">
            <a:avLst/>
          </a:prstGeom>
          <a:ln/>
        </p:spPr>
      </p:sp>
      <p:sp>
        <p:nvSpPr>
          <p:cNvPr id="10" name="dw:_n.1"/>
          <p:cNvSpPr/>
          <p:nvPr/>
        </p:nvSpPr>
        <p:spPr>
          <a:xfrm>
            <a:off x="3457575" y="2639244"/>
            <a:ext cx="189959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spc="-17" kern="0" dirty="0">
                <a:solidFill>
                  <a:srgbClr val="1F3A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de-DE" sz="1425" dirty="0"/>
          </a:p>
        </p:txBody>
      </p:sp>
      <p:pic>
        <p:nvPicPr>
          <p:cNvPr id="11" name="dw:_icon.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50" y="2625328"/>
            <a:ext cx="266700" cy="266700"/>
          </a:xfrm>
          <a:prstGeom prst="rect">
            <a:avLst/>
          </a:prstGeom>
        </p:spPr>
      </p:pic>
      <p:sp>
        <p:nvSpPr>
          <p:cNvPr id="12" name="dw:steps.1.title"/>
          <p:cNvSpPr/>
          <p:nvPr/>
        </p:nvSpPr>
        <p:spPr>
          <a:xfrm>
            <a:off x="3457575" y="3101578"/>
            <a:ext cx="242663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spc="-12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Pilotieren</a:t>
            </a:r>
            <a:endParaRPr lang="de-DE" sz="1950" dirty="0"/>
          </a:p>
        </p:txBody>
      </p:sp>
      <p:sp>
        <p:nvSpPr>
          <p:cNvPr id="13" name="dw:steps.1.desc"/>
          <p:cNvSpPr/>
          <p:nvPr/>
        </p:nvSpPr>
        <p:spPr>
          <a:xfrm>
            <a:off x="3457575" y="3537049"/>
            <a:ext cx="2426637" cy="94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 einem Bereich starten, in 90 Tagen lernen</a:t>
            </a:r>
            <a:endParaRPr lang="de-DE" sz="1800" dirty="0"/>
          </a:p>
        </p:txBody>
      </p:sp>
      <p:sp>
        <p:nvSpPr>
          <p:cNvPr id="14" name="dw:_card.2"/>
          <p:cNvSpPr/>
          <p:nvPr/>
        </p:nvSpPr>
        <p:spPr>
          <a:xfrm>
            <a:off x="6229350" y="2358628"/>
            <a:ext cx="2505075" cy="2478286"/>
          </a:xfrm>
          <a:prstGeom prst="rect">
            <a:avLst/>
          </a:prstGeom>
          <a:ln/>
        </p:spPr>
      </p:sp>
      <p:sp>
        <p:nvSpPr>
          <p:cNvPr id="15" name="dw:_n.2"/>
          <p:cNvSpPr/>
          <p:nvPr/>
        </p:nvSpPr>
        <p:spPr>
          <a:xfrm>
            <a:off x="6229350" y="2639244"/>
            <a:ext cx="189959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spc="-17" kern="0" dirty="0">
                <a:solidFill>
                  <a:srgbClr val="1F3A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de-DE" sz="1425" dirty="0"/>
          </a:p>
        </p:txBody>
      </p:sp>
      <p:pic>
        <p:nvPicPr>
          <p:cNvPr id="16" name="dw:_icon.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625328"/>
            <a:ext cx="266700" cy="266700"/>
          </a:xfrm>
          <a:prstGeom prst="rect">
            <a:avLst/>
          </a:prstGeom>
        </p:spPr>
      </p:pic>
      <p:sp>
        <p:nvSpPr>
          <p:cNvPr id="17" name="dw:steps.2.title"/>
          <p:cNvSpPr/>
          <p:nvPr/>
        </p:nvSpPr>
        <p:spPr>
          <a:xfrm>
            <a:off x="6229350" y="3101578"/>
            <a:ext cx="242663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spc="-12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Ausrollen</a:t>
            </a:r>
            <a:endParaRPr lang="de-DE" sz="1950" dirty="0"/>
          </a:p>
        </p:txBody>
      </p:sp>
      <p:sp>
        <p:nvSpPr>
          <p:cNvPr id="18" name="dw:steps.2.desc"/>
          <p:cNvSpPr/>
          <p:nvPr/>
        </p:nvSpPr>
        <p:spPr>
          <a:xfrm>
            <a:off x="6229350" y="3537049"/>
            <a:ext cx="2426637" cy="1261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Auf alle Bereiche übertragen, Verantwortliche benennen</a:t>
            </a:r>
            <a:endParaRPr lang="de-DE" sz="1800" dirty="0"/>
          </a:p>
        </p:txBody>
      </p:sp>
      <p:sp>
        <p:nvSpPr>
          <p:cNvPr id="19" name="dw:_card.3"/>
          <p:cNvSpPr/>
          <p:nvPr/>
        </p:nvSpPr>
        <p:spPr>
          <a:xfrm>
            <a:off x="9001125" y="2358628"/>
            <a:ext cx="2505075" cy="2478286"/>
          </a:xfrm>
          <a:prstGeom prst="rect">
            <a:avLst/>
          </a:prstGeom>
          <a:ln/>
        </p:spPr>
      </p:sp>
      <p:sp>
        <p:nvSpPr>
          <p:cNvPr id="20" name="dw:_n.3"/>
          <p:cNvSpPr/>
          <p:nvPr/>
        </p:nvSpPr>
        <p:spPr>
          <a:xfrm>
            <a:off x="9001125" y="2639244"/>
            <a:ext cx="189959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spc="-17" kern="0" dirty="0">
                <a:solidFill>
                  <a:srgbClr val="1F3A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de-DE" sz="1425" dirty="0"/>
          </a:p>
        </p:txBody>
      </p:sp>
      <p:pic>
        <p:nvPicPr>
          <p:cNvPr id="21" name="dw:_icon.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5200" y="2625328"/>
            <a:ext cx="266700" cy="266700"/>
          </a:xfrm>
          <a:prstGeom prst="rect">
            <a:avLst/>
          </a:prstGeom>
        </p:spPr>
      </p:pic>
      <p:sp>
        <p:nvSpPr>
          <p:cNvPr id="22" name="dw:steps.3.title"/>
          <p:cNvSpPr/>
          <p:nvPr/>
        </p:nvSpPr>
        <p:spPr>
          <a:xfrm>
            <a:off x="9001125" y="3101578"/>
            <a:ext cx="242663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spc="-12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Verankern</a:t>
            </a:r>
            <a:endParaRPr lang="de-DE" sz="1950" dirty="0"/>
          </a:p>
        </p:txBody>
      </p:sp>
      <p:sp>
        <p:nvSpPr>
          <p:cNvPr id="23" name="dw:steps.3.desc"/>
          <p:cNvSpPr/>
          <p:nvPr/>
        </p:nvSpPr>
        <p:spPr>
          <a:xfrm>
            <a:off x="9001125" y="3537049"/>
            <a:ext cx="2426637" cy="94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Zielvereinbarungen und Prozesse übernehmen</a:t>
            </a:r>
            <a:endParaRPr lang="de-DE" sz="1800" dirty="0"/>
          </a:p>
        </p:txBody>
      </p:sp>
      <p:sp>
        <p:nvSpPr>
          <p:cNvPr id="24" name="dw:_footer.title"/>
          <p:cNvSpPr/>
          <p:nvPr/>
        </p:nvSpPr>
        <p:spPr>
          <a:xfrm>
            <a:off x="685800" y="6450360"/>
            <a:ext cx="70666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Weg bis 2027</a:t>
            </a:r>
            <a:endParaRPr lang="de-DE" sz="975" dirty="0"/>
          </a:p>
        </p:txBody>
      </p:sp>
      <p:sp>
        <p:nvSpPr>
          <p:cNvPr id="25" name="dw:_footer.page"/>
          <p:cNvSpPr/>
          <p:nvPr/>
        </p:nvSpPr>
        <p:spPr>
          <a:xfrm>
            <a:off x="11213827" y="6450360"/>
            <a:ext cx="29675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 / 12</a:t>
            </a:r>
            <a:endParaRPr lang="de-DE" sz="975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eyebrow"/>
          <p:cNvSpPr/>
          <p:nvPr/>
        </p:nvSpPr>
        <p:spPr>
          <a:xfrm>
            <a:off x="685800" y="571500"/>
            <a:ext cx="7747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de-DE" altLang="en-US" sz="1050" b="1" spc="11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Meilensteine</a:t>
            </a:r>
            <a:endParaRPr lang="de-DE" sz="1050" dirty="0"/>
          </a:p>
        </p:txBody>
      </p:sp>
      <p:sp>
        <p:nvSpPr>
          <p:cNvPr id="3" name="dw:title"/>
          <p:cNvSpPr/>
          <p:nvPr/>
        </p:nvSpPr>
        <p:spPr>
          <a:xfrm>
            <a:off x="685800" y="864840"/>
            <a:ext cx="9667875" cy="111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spc="-46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Bis Ende 2027 sind alle drei</a:t>
            </a:r>
            <a:endParaRPr lang="de-DE" sz="3843" dirty="0"/>
          </a:p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spc="-46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Schwerpunkte im Alltag verankert</a:t>
            </a:r>
            <a:endParaRPr lang="de-DE" sz="3843" dirty="0"/>
          </a:p>
        </p:txBody>
      </p:sp>
      <p:sp>
        <p:nvSpPr>
          <p:cNvPr id="4" name="dw:_axis"/>
          <p:cNvSpPr/>
          <p:nvPr/>
        </p:nvSpPr>
        <p:spPr>
          <a:xfrm>
            <a:off x="685800" y="2425303"/>
            <a:ext cx="10820400" cy="19050"/>
          </a:xfrm>
          <a:prstGeom prst="rect">
            <a:avLst/>
          </a:prstGeom>
          <a:solidFill>
            <a:srgbClr val="E0DDD5"/>
          </a:solidFill>
          <a:ln/>
        </p:spPr>
      </p:sp>
      <p:sp>
        <p:nvSpPr>
          <p:cNvPr id="5" name="dw:_dot.0"/>
          <p:cNvSpPr/>
          <p:nvPr/>
        </p:nvSpPr>
        <p:spPr>
          <a:xfrm>
            <a:off x="685800" y="2415778"/>
            <a:ext cx="228600" cy="38100"/>
          </a:xfrm>
          <a:prstGeom prst="rect">
            <a:avLst/>
          </a:prstGeom>
          <a:solidFill>
            <a:srgbClr val="1F3A8A"/>
          </a:solidFill>
          <a:ln/>
        </p:spPr>
      </p:sp>
      <p:sp>
        <p:nvSpPr>
          <p:cNvPr id="6" name="dw:_card.0"/>
          <p:cNvSpPr/>
          <p:nvPr/>
        </p:nvSpPr>
        <p:spPr>
          <a:xfrm>
            <a:off x="685800" y="2720578"/>
            <a:ext cx="2505075" cy="1923752"/>
          </a:xfrm>
          <a:prstGeom prst="rect">
            <a:avLst/>
          </a:prstGeom>
          <a:ln/>
        </p:spPr>
      </p:sp>
      <p:sp>
        <p:nvSpPr>
          <p:cNvPr id="7" name="dw:items.0.date"/>
          <p:cNvSpPr/>
          <p:nvPr/>
        </p:nvSpPr>
        <p:spPr>
          <a:xfrm>
            <a:off x="685800" y="2720578"/>
            <a:ext cx="2426637" cy="40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17"/>
              </a:lnSpc>
              <a:buNone/>
            </a:pPr>
            <a:r>
              <a:rPr lang="de-DE" altLang="en-US" sz="2925" spc="-18" kern="0" dirty="0">
                <a:solidFill>
                  <a:srgbClr val="1F3A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Q4 2026</a:t>
            </a:r>
            <a:endParaRPr lang="de-DE" sz="2925" dirty="0"/>
          </a:p>
        </p:txBody>
      </p:sp>
      <p:sp>
        <p:nvSpPr>
          <p:cNvPr id="8" name="dw:items.0.title"/>
          <p:cNvSpPr/>
          <p:nvPr/>
        </p:nvSpPr>
        <p:spPr>
          <a:xfrm>
            <a:off x="685800" y="3243486"/>
            <a:ext cx="242663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spc="-12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Verantwortliche</a:t>
            </a:r>
            <a:endParaRPr lang="de-DE" sz="1950" dirty="0"/>
          </a:p>
        </p:txBody>
      </p:sp>
      <p:sp>
        <p:nvSpPr>
          <p:cNvPr id="9" name="dw:items.0.desc"/>
          <p:cNvSpPr/>
          <p:nvPr/>
        </p:nvSpPr>
        <p:spPr>
          <a:xfrm>
            <a:off x="685800" y="3659907"/>
            <a:ext cx="2426637" cy="94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Drei Teams stehen, Kennzahlen sind definiert</a:t>
            </a:r>
            <a:endParaRPr lang="de-DE" sz="1800" dirty="0"/>
          </a:p>
        </p:txBody>
      </p:sp>
      <p:sp>
        <p:nvSpPr>
          <p:cNvPr id="10" name="dw:_dot.1"/>
          <p:cNvSpPr/>
          <p:nvPr/>
        </p:nvSpPr>
        <p:spPr>
          <a:xfrm>
            <a:off x="3457575" y="2415778"/>
            <a:ext cx="228600" cy="38100"/>
          </a:xfrm>
          <a:prstGeom prst="rect">
            <a:avLst/>
          </a:prstGeom>
          <a:solidFill>
            <a:srgbClr val="1F3A8A"/>
          </a:solidFill>
          <a:ln/>
        </p:spPr>
      </p:sp>
      <p:sp>
        <p:nvSpPr>
          <p:cNvPr id="11" name="dw:_card.1"/>
          <p:cNvSpPr/>
          <p:nvPr/>
        </p:nvSpPr>
        <p:spPr>
          <a:xfrm>
            <a:off x="3457575" y="2720578"/>
            <a:ext cx="2505075" cy="1923752"/>
          </a:xfrm>
          <a:prstGeom prst="rect">
            <a:avLst/>
          </a:prstGeom>
          <a:ln/>
        </p:spPr>
      </p:sp>
      <p:sp>
        <p:nvSpPr>
          <p:cNvPr id="12" name="dw:items.1.date"/>
          <p:cNvSpPr/>
          <p:nvPr/>
        </p:nvSpPr>
        <p:spPr>
          <a:xfrm>
            <a:off x="3457575" y="2720578"/>
            <a:ext cx="2426637" cy="40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17"/>
              </a:lnSpc>
              <a:buNone/>
            </a:pPr>
            <a:r>
              <a:rPr lang="de-DE" altLang="en-US" sz="2925" spc="-18" kern="0" dirty="0">
                <a:solidFill>
                  <a:srgbClr val="1F3A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Q1 2027</a:t>
            </a:r>
            <a:endParaRPr lang="de-DE" sz="2925" dirty="0"/>
          </a:p>
        </p:txBody>
      </p:sp>
      <p:sp>
        <p:nvSpPr>
          <p:cNvPr id="13" name="dw:items.1.title"/>
          <p:cNvSpPr/>
          <p:nvPr/>
        </p:nvSpPr>
        <p:spPr>
          <a:xfrm>
            <a:off x="3457575" y="3243486"/>
            <a:ext cx="242663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spc="-12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Piloten laufen</a:t>
            </a:r>
            <a:endParaRPr lang="de-DE" sz="1950" dirty="0"/>
          </a:p>
        </p:txBody>
      </p:sp>
      <p:sp>
        <p:nvSpPr>
          <p:cNvPr id="14" name="dw:items.1.desc"/>
          <p:cNvSpPr/>
          <p:nvPr/>
        </p:nvSpPr>
        <p:spPr>
          <a:xfrm>
            <a:off x="3457575" y="3659907"/>
            <a:ext cx="2426637" cy="94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Portal mit 30 Kunden, Akademie mit erster Klasse</a:t>
            </a:r>
            <a:endParaRPr lang="de-DE" sz="1800" dirty="0"/>
          </a:p>
        </p:txBody>
      </p:sp>
      <p:sp>
        <p:nvSpPr>
          <p:cNvPr id="15" name="dw:_dot.2"/>
          <p:cNvSpPr/>
          <p:nvPr/>
        </p:nvSpPr>
        <p:spPr>
          <a:xfrm>
            <a:off x="6229350" y="2415778"/>
            <a:ext cx="228600" cy="38100"/>
          </a:xfrm>
          <a:prstGeom prst="rect">
            <a:avLst/>
          </a:prstGeom>
          <a:solidFill>
            <a:srgbClr val="1F3A8A"/>
          </a:solidFill>
          <a:ln/>
        </p:spPr>
      </p:sp>
      <p:sp>
        <p:nvSpPr>
          <p:cNvPr id="16" name="dw:_card.2"/>
          <p:cNvSpPr/>
          <p:nvPr/>
        </p:nvSpPr>
        <p:spPr>
          <a:xfrm>
            <a:off x="6229350" y="2720578"/>
            <a:ext cx="2505075" cy="1923752"/>
          </a:xfrm>
          <a:prstGeom prst="rect">
            <a:avLst/>
          </a:prstGeom>
          <a:ln/>
        </p:spPr>
      </p:sp>
      <p:sp>
        <p:nvSpPr>
          <p:cNvPr id="17" name="dw:items.2.date"/>
          <p:cNvSpPr/>
          <p:nvPr/>
        </p:nvSpPr>
        <p:spPr>
          <a:xfrm>
            <a:off x="6229350" y="2720578"/>
            <a:ext cx="2426637" cy="40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17"/>
              </a:lnSpc>
              <a:buNone/>
            </a:pPr>
            <a:r>
              <a:rPr lang="de-DE" altLang="en-US" sz="2925" spc="-18" kern="0" dirty="0">
                <a:solidFill>
                  <a:srgbClr val="1F3A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Q3 2027</a:t>
            </a:r>
            <a:endParaRPr lang="de-DE" sz="2925" dirty="0"/>
          </a:p>
        </p:txBody>
      </p:sp>
      <p:sp>
        <p:nvSpPr>
          <p:cNvPr id="18" name="dw:items.2.title"/>
          <p:cNvSpPr/>
          <p:nvPr/>
        </p:nvSpPr>
        <p:spPr>
          <a:xfrm>
            <a:off x="6229350" y="3243486"/>
            <a:ext cx="242663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spc="-12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Rollout</a:t>
            </a:r>
            <a:endParaRPr lang="de-DE" sz="1950" dirty="0"/>
          </a:p>
        </p:txBody>
      </p:sp>
      <p:sp>
        <p:nvSpPr>
          <p:cNvPr id="19" name="dw:items.2.desc"/>
          <p:cNvSpPr/>
          <p:nvPr/>
        </p:nvSpPr>
        <p:spPr>
          <a:xfrm>
            <a:off x="6229350" y="3659907"/>
            <a:ext cx="2426637" cy="630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Liefertreue bei 96 %, Portal für alle Kunden</a:t>
            </a:r>
            <a:endParaRPr lang="de-DE" sz="1800" dirty="0"/>
          </a:p>
        </p:txBody>
      </p:sp>
      <p:sp>
        <p:nvSpPr>
          <p:cNvPr id="20" name="dw:_dot.3"/>
          <p:cNvSpPr/>
          <p:nvPr/>
        </p:nvSpPr>
        <p:spPr>
          <a:xfrm>
            <a:off x="9001125" y="2415778"/>
            <a:ext cx="228600" cy="38100"/>
          </a:xfrm>
          <a:prstGeom prst="rect">
            <a:avLst/>
          </a:prstGeom>
          <a:solidFill>
            <a:srgbClr val="1F3A8A"/>
          </a:solidFill>
          <a:ln/>
        </p:spPr>
      </p:sp>
      <p:sp>
        <p:nvSpPr>
          <p:cNvPr id="21" name="dw:_card.3"/>
          <p:cNvSpPr/>
          <p:nvPr/>
        </p:nvSpPr>
        <p:spPr>
          <a:xfrm>
            <a:off x="9001125" y="2720578"/>
            <a:ext cx="2505075" cy="1923752"/>
          </a:xfrm>
          <a:prstGeom prst="rect">
            <a:avLst/>
          </a:prstGeom>
          <a:ln/>
        </p:spPr>
      </p:sp>
      <p:sp>
        <p:nvSpPr>
          <p:cNvPr id="22" name="dw:items.3.date"/>
          <p:cNvSpPr/>
          <p:nvPr/>
        </p:nvSpPr>
        <p:spPr>
          <a:xfrm>
            <a:off x="9001125" y="2720578"/>
            <a:ext cx="2426637" cy="40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17"/>
              </a:lnSpc>
              <a:buNone/>
            </a:pPr>
            <a:r>
              <a:rPr lang="de-DE" altLang="en-US" sz="2925" spc="-18" kern="0" dirty="0">
                <a:solidFill>
                  <a:srgbClr val="1F3A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Q4 2027</a:t>
            </a:r>
            <a:endParaRPr lang="de-DE" sz="2925" dirty="0"/>
          </a:p>
        </p:txBody>
      </p:sp>
      <p:sp>
        <p:nvSpPr>
          <p:cNvPr id="23" name="dw:items.3.title"/>
          <p:cNvSpPr/>
          <p:nvPr/>
        </p:nvSpPr>
        <p:spPr>
          <a:xfrm>
            <a:off x="9001125" y="3243486"/>
            <a:ext cx="242663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9"/>
              </a:lnSpc>
              <a:buNone/>
            </a:pPr>
            <a:r>
              <a:rPr lang="de-DE" altLang="en-US" sz="1950" spc="-12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Verankert</a:t>
            </a:r>
            <a:endParaRPr lang="de-DE" sz="1950" dirty="0"/>
          </a:p>
        </p:txBody>
      </p:sp>
      <p:sp>
        <p:nvSpPr>
          <p:cNvPr id="24" name="dw:items.3.desc"/>
          <p:cNvSpPr/>
          <p:nvPr/>
        </p:nvSpPr>
        <p:spPr>
          <a:xfrm>
            <a:off x="9001125" y="3659907"/>
            <a:ext cx="2426637" cy="94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98 % Liefertreue, 20 Auszubildende, ein Kanal</a:t>
            </a:r>
            <a:endParaRPr lang="de-DE" sz="1800" dirty="0"/>
          </a:p>
        </p:txBody>
      </p:sp>
      <p:sp>
        <p:nvSpPr>
          <p:cNvPr id="25" name="dw:_footer.title"/>
          <p:cNvSpPr/>
          <p:nvPr/>
        </p:nvSpPr>
        <p:spPr>
          <a:xfrm>
            <a:off x="685800" y="6450360"/>
            <a:ext cx="70666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Weg bis 2027</a:t>
            </a:r>
            <a:endParaRPr lang="de-DE" sz="975" dirty="0"/>
          </a:p>
        </p:txBody>
      </p:sp>
      <p:sp>
        <p:nvSpPr>
          <p:cNvPr id="26" name="dw:_footer.page"/>
          <p:cNvSpPr/>
          <p:nvPr/>
        </p:nvSpPr>
        <p:spPr>
          <a:xfrm>
            <a:off x="11149831" y="6450360"/>
            <a:ext cx="36171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 / 12</a:t>
            </a:r>
            <a:endParaRPr lang="de-DE" sz="975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eyebrow"/>
          <p:cNvSpPr/>
          <p:nvPr/>
        </p:nvSpPr>
        <p:spPr>
          <a:xfrm>
            <a:off x="685800" y="571500"/>
            <a:ext cx="8305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de-DE" altLang="en-US" sz="1050" b="1" spc="11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Entscheidung</a:t>
            </a:r>
            <a:endParaRPr lang="de-DE" sz="1050" dirty="0"/>
          </a:p>
        </p:txBody>
      </p:sp>
      <p:sp>
        <p:nvSpPr>
          <p:cNvPr id="3" name="dw:title"/>
          <p:cNvSpPr/>
          <p:nvPr/>
        </p:nvSpPr>
        <p:spPr>
          <a:xfrm>
            <a:off x="685800" y="864840"/>
            <a:ext cx="9667875" cy="111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spc="-46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Der Beirat verabschiedet heute</a:t>
            </a:r>
            <a:endParaRPr lang="de-DE" sz="3843" dirty="0"/>
          </a:p>
          <a:p>
            <a:pPr algn="l" indent="0" marL="0">
              <a:lnSpc>
                <a:spcPts val="4381"/>
              </a:lnSpc>
              <a:buNone/>
            </a:pPr>
            <a:r>
              <a:rPr lang="de-DE" altLang="en-US" sz="3843" spc="-46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drei Schwerpunkte und ein Budget</a:t>
            </a:r>
            <a:endParaRPr lang="de-DE" sz="3843" dirty="0"/>
          </a:p>
        </p:txBody>
      </p:sp>
      <p:sp>
        <p:nvSpPr>
          <p:cNvPr id="4" name="dw:_card.left"/>
          <p:cNvSpPr/>
          <p:nvPr/>
        </p:nvSpPr>
        <p:spPr>
          <a:xfrm>
            <a:off x="685800" y="2358628"/>
            <a:ext cx="5276850" cy="2452539"/>
          </a:xfrm>
          <a:prstGeom prst="rect">
            <a:avLst/>
          </a:prstGeom>
          <a:ln/>
        </p:spPr>
      </p:sp>
      <p:sp>
        <p:nvSpPr>
          <p:cNvPr id="5" name="dw:left.heading"/>
          <p:cNvSpPr/>
          <p:nvPr/>
        </p:nvSpPr>
        <p:spPr>
          <a:xfrm>
            <a:off x="685800" y="2701528"/>
            <a:ext cx="5356003" cy="39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93"/>
              </a:lnSpc>
              <a:buNone/>
            </a:pPr>
            <a:r>
              <a:rPr lang="de-DE" altLang="en-US" sz="2535" spc="-15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Zur Verabschiedung</a:t>
            </a:r>
            <a:endParaRPr lang="de-DE" sz="2535" dirty="0"/>
          </a:p>
        </p:txBody>
      </p:sp>
      <p:sp>
        <p:nvSpPr>
          <p:cNvPr id="6" name="dw:_pd.left.points.0"/>
          <p:cNvSpPr/>
          <p:nvPr/>
        </p:nvSpPr>
        <p:spPr>
          <a:xfrm>
            <a:off x="685800" y="3475583"/>
            <a:ext cx="133350" cy="19050"/>
          </a:xfrm>
          <a:prstGeom prst="rect">
            <a:avLst/>
          </a:prstGeom>
          <a:solidFill>
            <a:srgbClr val="1F3A8A"/>
          </a:solidFill>
          <a:ln/>
        </p:spPr>
      </p:sp>
      <p:sp>
        <p:nvSpPr>
          <p:cNvPr id="7" name="dw:left.points.0"/>
          <p:cNvSpPr/>
          <p:nvPr/>
        </p:nvSpPr>
        <p:spPr>
          <a:xfrm>
            <a:off x="952500" y="3303761"/>
            <a:ext cx="5085302" cy="362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7"/>
              </a:lnSpc>
              <a:buNone/>
            </a:pPr>
            <a:r>
              <a:rPr lang="de-DE" altLang="en-US" sz="2070" dirty="0">
                <a:solidFill>
                  <a:srgbClr val="1A1D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Drei Schwerpunkte mit Zielwerten 2027</a:t>
            </a:r>
            <a:endParaRPr lang="de-DE" sz="2070" dirty="0"/>
          </a:p>
        </p:txBody>
      </p:sp>
      <p:sp>
        <p:nvSpPr>
          <p:cNvPr id="8" name="dw:_pd.left.points.1"/>
          <p:cNvSpPr/>
          <p:nvPr/>
        </p:nvSpPr>
        <p:spPr>
          <a:xfrm>
            <a:off x="685800" y="4028852"/>
            <a:ext cx="133350" cy="19050"/>
          </a:xfrm>
          <a:prstGeom prst="rect">
            <a:avLst/>
          </a:prstGeom>
          <a:solidFill>
            <a:srgbClr val="1F3A8A"/>
          </a:solidFill>
          <a:ln/>
        </p:spPr>
      </p:sp>
      <p:sp>
        <p:nvSpPr>
          <p:cNvPr id="9" name="dw:left.points.1"/>
          <p:cNvSpPr/>
          <p:nvPr/>
        </p:nvSpPr>
        <p:spPr>
          <a:xfrm>
            <a:off x="952500" y="3857030"/>
            <a:ext cx="5085302" cy="362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7"/>
              </a:lnSpc>
              <a:buNone/>
            </a:pPr>
            <a:r>
              <a:rPr lang="de-DE" altLang="en-US" sz="2070" dirty="0">
                <a:solidFill>
                  <a:srgbClr val="1A1D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Verantwortliche aus der Bereichsleitung</a:t>
            </a:r>
            <a:endParaRPr lang="de-DE" sz="2070" dirty="0"/>
          </a:p>
        </p:txBody>
      </p:sp>
      <p:sp>
        <p:nvSpPr>
          <p:cNvPr id="10" name="dw:_pd.left.points.2"/>
          <p:cNvSpPr/>
          <p:nvPr/>
        </p:nvSpPr>
        <p:spPr>
          <a:xfrm>
            <a:off x="685800" y="4582120"/>
            <a:ext cx="133350" cy="19050"/>
          </a:xfrm>
          <a:prstGeom prst="rect">
            <a:avLst/>
          </a:prstGeom>
          <a:solidFill>
            <a:srgbClr val="1F3A8A"/>
          </a:solidFill>
          <a:ln/>
        </p:spPr>
      </p:sp>
      <p:sp>
        <p:nvSpPr>
          <p:cNvPr id="11" name="dw:left.points.2"/>
          <p:cNvSpPr/>
          <p:nvPr/>
        </p:nvSpPr>
        <p:spPr>
          <a:xfrm>
            <a:off x="952500" y="4410298"/>
            <a:ext cx="5085302" cy="362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7"/>
              </a:lnSpc>
              <a:buNone/>
            </a:pPr>
            <a:r>
              <a:rPr lang="de-DE" altLang="en-US" sz="2070" dirty="0">
                <a:solidFill>
                  <a:srgbClr val="1A1D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Quartalsweises Review im Führungskreis</a:t>
            </a:r>
            <a:endParaRPr lang="de-DE" sz="2070" dirty="0"/>
          </a:p>
        </p:txBody>
      </p:sp>
      <p:sp>
        <p:nvSpPr>
          <p:cNvPr id="12" name="dw:_card.right"/>
          <p:cNvSpPr/>
          <p:nvPr/>
        </p:nvSpPr>
        <p:spPr>
          <a:xfrm>
            <a:off x="6229350" y="2358628"/>
            <a:ext cx="5276850" cy="2452539"/>
          </a:xfrm>
          <a:prstGeom prst="rect">
            <a:avLst/>
          </a:prstGeom>
          <a:ln/>
        </p:spPr>
      </p:sp>
      <p:sp>
        <p:nvSpPr>
          <p:cNvPr id="13" name="dw:right.heading"/>
          <p:cNvSpPr/>
          <p:nvPr/>
        </p:nvSpPr>
        <p:spPr>
          <a:xfrm>
            <a:off x="6229350" y="2701528"/>
            <a:ext cx="5356003" cy="39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93"/>
              </a:lnSpc>
              <a:buNone/>
            </a:pPr>
            <a:r>
              <a:rPr lang="de-DE" altLang="en-US" sz="2535" spc="-15" kern="0" dirty="0">
                <a:solidFill>
                  <a:srgbClr val="1F3A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Dafür brauchen wir</a:t>
            </a:r>
            <a:endParaRPr lang="de-DE" sz="2535" dirty="0"/>
          </a:p>
        </p:txBody>
      </p:sp>
      <p:sp>
        <p:nvSpPr>
          <p:cNvPr id="14" name="dw:right.text"/>
          <p:cNvSpPr/>
          <p:nvPr/>
        </p:nvSpPr>
        <p:spPr>
          <a:xfrm>
            <a:off x="6229350" y="3303761"/>
            <a:ext cx="5356003" cy="1088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7"/>
              </a:lnSpc>
              <a:buNone/>
            </a:pPr>
            <a:r>
              <a:rPr lang="de-DE" altLang="en-US" sz="2070" dirty="0">
                <a:solidFill>
                  <a:srgbClr val="1A1D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Ein Investitionsbudget von 1,4 Mio € über zwei Jahre, davon 0,9 Mio € für das Kundenportal und 0,5 Mio € für die Akademie.</a:t>
            </a:r>
            <a:endParaRPr lang="de-DE" sz="2070" dirty="0"/>
          </a:p>
        </p:txBody>
      </p:sp>
      <p:sp>
        <p:nvSpPr>
          <p:cNvPr id="15" name="dw:_footer.title"/>
          <p:cNvSpPr/>
          <p:nvPr/>
        </p:nvSpPr>
        <p:spPr>
          <a:xfrm>
            <a:off x="685800" y="6450360"/>
            <a:ext cx="70666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Weg bis 2027</a:t>
            </a:r>
            <a:endParaRPr lang="de-DE" sz="975" dirty="0"/>
          </a:p>
        </p:txBody>
      </p:sp>
      <p:sp>
        <p:nvSpPr>
          <p:cNvPr id="16" name="dw:_footer.page"/>
          <p:cNvSpPr/>
          <p:nvPr/>
        </p:nvSpPr>
        <p:spPr>
          <a:xfrm>
            <a:off x="11149831" y="6450360"/>
            <a:ext cx="36171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de-DE" altLang="en-US" sz="975" spc="20" kern="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11 / 12</a:t>
            </a:r>
            <a:endParaRPr lang="de-DE" sz="975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w:title"/>
          <p:cNvSpPr/>
          <p:nvPr/>
        </p:nvSpPr>
        <p:spPr>
          <a:xfrm>
            <a:off x="685800" y="1505099"/>
            <a:ext cx="9667875" cy="2808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71"/>
              </a:lnSpc>
              <a:buNone/>
            </a:pPr>
            <a:r>
              <a:rPr lang="de-DE" altLang="en-US" sz="6954" spc="-83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Bitte um</a:t>
            </a:r>
            <a:endParaRPr lang="de-DE" sz="6954" dirty="0"/>
          </a:p>
          <a:p>
            <a:pPr algn="l" indent="0" marL="0">
              <a:lnSpc>
                <a:spcPts val="7371"/>
              </a:lnSpc>
              <a:buNone/>
            </a:pPr>
            <a:r>
              <a:rPr lang="de-DE" altLang="en-US" sz="6954" spc="-83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Verabschiedung</a:t>
            </a:r>
            <a:endParaRPr lang="de-DE" sz="6954" dirty="0"/>
          </a:p>
          <a:p>
            <a:pPr algn="l" indent="0" marL="0">
              <a:lnSpc>
                <a:spcPts val="7371"/>
              </a:lnSpc>
              <a:buNone/>
            </a:pPr>
            <a:r>
              <a:rPr lang="de-DE" altLang="en-US" sz="6954" spc="-83" kern="0" dirty="0">
                <a:solidFill>
                  <a:srgbClr val="1A1D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der Strategie 2027</a:t>
            </a:r>
            <a:endParaRPr lang="de-DE" sz="6954" dirty="0"/>
          </a:p>
        </p:txBody>
      </p:sp>
      <p:sp>
        <p:nvSpPr>
          <p:cNvPr id="3" name="dw:subtitle"/>
          <p:cNvSpPr/>
          <p:nvPr/>
        </p:nvSpPr>
        <p:spPr>
          <a:xfrm>
            <a:off x="685800" y="4542086"/>
            <a:ext cx="8314372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de-DE" altLang="en-US" sz="1800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Drei Schwerpunkte · 1,4 Mio € über zwei Jahre · erstes Review im Januar 2027</a:t>
            </a:r>
            <a:endParaRPr lang="de-DE" sz="1800" dirty="0"/>
          </a:p>
        </p:txBody>
      </p:sp>
      <p:sp>
        <p:nvSpPr>
          <p:cNvPr id="4" name="dw:contact.0"/>
          <p:cNvSpPr/>
          <p:nvPr/>
        </p:nvSpPr>
        <p:spPr>
          <a:xfrm>
            <a:off x="685800" y="5933331"/>
            <a:ext cx="1352218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1"/>
              </a:lnSpc>
              <a:buNone/>
            </a:pPr>
            <a:r>
              <a:rPr lang="de-DE" altLang="en-US" sz="1425" dirty="0">
                <a:solidFill>
                  <a:srgbClr val="5E61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Geschäftsführung</a:t>
            </a:r>
            <a:endParaRPr lang="de-DE" sz="1425" dirty="0"/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2027</dc:title>
  <dc:subject>PptxGenJS Presentation</dc:subject>
  <dc:creator>Deckwerk</dc:creator>
  <cp:lastModifiedBy>Deckwerk</cp:lastModifiedBy>
  <cp:revision>1</cp:revision>
  <dcterms:created xsi:type="dcterms:W3CDTF">2026-10-09T12:37:04Z</dcterms:created>
  <dcterms:modified xsi:type="dcterms:W3CDTF">2026-10-09T12:37:04Z</dcterms:modified>
</cp:coreProperties>
</file>